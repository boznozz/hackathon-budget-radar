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6B005-BFC9-BAEF-C1A3-A12ADAED3E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B44640-9169-7762-58FD-7086069E9A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47EF0F-B06D-FF25-78FC-44EF41410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95E21-B69B-4203-9376-7704D6DE11BA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86944A-F421-6D41-CC35-D9205C7B3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A74F96-8BA3-965F-36A7-65926C917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8E910-AF12-43FF-8D1F-5D17A9F34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454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A1D25-5411-4509-1698-EB772297F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3C3BE-0C89-E8E8-5251-25F5FAC24C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A655B7-3CB7-017A-0D0B-6671B9E5F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95E21-B69B-4203-9376-7704D6DE11BA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01ABA-3B2B-7D75-0F1A-1E8815D08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0F5ED0-4F87-D330-3CDB-47B53858D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8E910-AF12-43FF-8D1F-5D17A9F34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872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53399-53A9-FBC8-9470-29B08DC25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0A19DD-EF2A-804C-F576-AEA096A0A1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6674EC-7476-D0CC-E0FA-DCF1CEC33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95E21-B69B-4203-9376-7704D6DE11BA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4660C-B3B6-526E-61DC-B7C2907A9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228A1E-C1DD-F466-29F2-EBC38B1EA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8E910-AF12-43FF-8D1F-5D17A9F34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842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295EC-DB6E-FAAA-BA15-2F3A1B821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A22EF-CA90-C8B7-D78E-F51729348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69FFD6-C516-40D7-566C-B72A7FA8A3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D59123-4A4A-E4C6-2045-FA19AF943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95E21-B69B-4203-9376-7704D6DE11BA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502678-08F4-5491-5F42-7BF63F652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487438-9F15-7E3D-2974-AB9E8CD0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8E910-AF12-43FF-8D1F-5D17A9F34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166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72EC8-64AB-76ED-73EB-51B002B5F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F2546-B3C6-A2DE-8B52-42A5F3BC0E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EE3B51-7777-8B5B-BFDE-B08CA72091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E6199F-992C-E1BA-8A84-00FC92D652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30A1DC-B31C-8EC5-E576-D15BE3F208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67221F-F2F9-9A79-A110-ACAEEE9F7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95E21-B69B-4203-9376-7704D6DE11BA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48F89A-4736-4523-0EA5-565F6E663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DE8716-23CA-CADA-EC82-5712E0734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8E910-AF12-43FF-8D1F-5D17A9F34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77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B7C81-4ECE-4FD5-A491-6460A4D0F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7F95A9-2A48-4167-9DD4-C0007C78E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95E21-B69B-4203-9376-7704D6DE11BA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109E2E-0E21-8F0B-7D0C-2528267BA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2CE372-CD4B-F843-24F0-9C8A3B791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8E910-AF12-43FF-8D1F-5D17A9F34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528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902EF4-7916-A4AA-E3F9-D40027917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95E21-B69B-4203-9376-7704D6DE11BA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07EBC2-72E4-900A-FF1F-E08ABCD26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2A20A7-58D1-1160-CE4E-A7BB36C9F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8E910-AF12-43FF-8D1F-5D17A9F34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3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4FACF-B0F8-1371-90B9-3C7AAFA62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C3253-2C28-3902-A462-7C012408E7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E023B6-945B-C928-3534-2C5B0D32AE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E71D06-173A-1A63-108C-6D0703225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95E21-B69B-4203-9376-7704D6DE11BA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36D2E7-1A22-4186-6741-657B26C8B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276324-A90B-60FA-39CE-5A7DC901C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8E910-AF12-43FF-8D1F-5D17A9F34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765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98C40-1118-8A94-3A23-6F60F97EC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0AE86D-8C15-68E1-CA64-B2C1FB0D9B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4EADD5-90A9-F8BE-D71C-E32A7780DA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AA94D-11C5-CE35-E8ED-0CA5414C0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95E21-B69B-4203-9376-7704D6DE11BA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1442E9-2CB0-1EDF-FE5C-3F2978AE1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84E789-C87E-6067-5E73-148925A24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8E910-AF12-43FF-8D1F-5D17A9F34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841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DC921-380B-6252-D99B-E70B28454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ADA251-CAF3-7B73-5EF4-5AC1839BDD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251031-6EB8-53C1-3705-6263A3748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95E21-B69B-4203-9376-7704D6DE11BA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B6890-433B-6891-4F8A-587A2EC33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D9E682-5455-EE0C-F356-C4F932000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8E910-AF12-43FF-8D1F-5D17A9F34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649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F36E14-6F7E-9256-D30D-24B8B36765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474A20-6DAA-806D-063B-46928C2BEF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CD44FD-F000-630B-5066-3926C2B63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95E21-B69B-4203-9376-7704D6DE11BA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ECF3B4-5137-702B-9841-AAE6B8BF3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FCBE2-18D0-457C-6D03-063A1CCFB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8E910-AF12-43FF-8D1F-5D17A9F34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93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18CBF0-7631-5ECF-82AD-A8FB8B8A0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3AEEDE-A861-8890-F8E8-6C1CFB0DC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84B467-E8A2-D122-B07C-0FD9D54608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495E21-B69B-4203-9376-7704D6DE11BA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EF0966-EBBA-FBBF-C61F-3F45C8D379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4B211-06C7-D321-CCB2-324123A5C5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8E910-AF12-43FF-8D1F-5D17A9F34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261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CC442F2-6D7B-E331-7D55-FE6C9B94430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52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6F2106-2421-D75D-44C8-395D0EF40DDE}"/>
              </a:ext>
            </a:extLst>
          </p:cNvPr>
          <p:cNvSpPr txBox="1"/>
          <p:nvPr/>
        </p:nvSpPr>
        <p:spPr>
          <a:xfrm>
            <a:off x="838200" y="1092200"/>
            <a:ext cx="9652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46C8C0"/>
                </a:solidFill>
                <a:latin typeface="Arial" panose="020B0604020202020204" pitchFamily="34" charset="0"/>
              </a:rPr>
              <a:t>PITCH DECK · HACKATHON T19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25D544-0A9F-C72B-518E-FD922F19CD88}"/>
              </a:ext>
            </a:extLst>
          </p:cNvPr>
          <p:cNvSpPr txBox="1"/>
          <p:nvPr/>
        </p:nvSpPr>
        <p:spPr>
          <a:xfrm>
            <a:off x="838200" y="1905000"/>
            <a:ext cx="10477500" cy="7232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4700" b="1">
                <a:solidFill>
                  <a:srgbClr val="EEF5FA"/>
                </a:solidFill>
                <a:latin typeface="Arial" panose="020B0604020202020204" pitchFamily="34" charset="0"/>
              </a:rPr>
              <a:t>Tunisie · Analyse économique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980E19-ACC7-32F9-D113-FD1020D1A563}"/>
              </a:ext>
            </a:extLst>
          </p:cNvPr>
          <p:cNvSpPr txBox="1"/>
          <p:nvPr/>
        </p:nvSpPr>
        <p:spPr>
          <a:xfrm>
            <a:off x="838200" y="3429000"/>
            <a:ext cx="104775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46C8C0"/>
                </a:solidFill>
                <a:latin typeface="Arial" panose="020B0604020202020204" pitchFamily="34" charset="0"/>
              </a:rPr>
              <a:t>Radar des chocs budgétaires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249323-9B4E-3164-A73E-55F3EF2CED9F}"/>
              </a:ext>
            </a:extLst>
          </p:cNvPr>
          <p:cNvSpPr txBox="1"/>
          <p:nvPr/>
        </p:nvSpPr>
        <p:spPr>
          <a:xfrm>
            <a:off x="838200" y="4597400"/>
            <a:ext cx="100965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2100">
                <a:solidFill>
                  <a:srgbClr val="A8BACB"/>
                </a:solidFill>
                <a:latin typeface="Arial" panose="020B0604020202020204" pitchFamily="34" charset="0"/>
              </a:rPr>
              <a:t>Prévisions mensuelles et scénarios dʼactualité pour éclairer les décisions budgétaires</a:t>
            </a:r>
            <a:endParaRPr lang="en-US" sz="2100">
              <a:solidFill>
                <a:srgbClr val="A8BACB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B38E54-EA60-36E0-0842-678639B57A5E}"/>
              </a:ext>
            </a:extLst>
          </p:cNvPr>
          <p:cNvSpPr txBox="1"/>
          <p:nvPr/>
        </p:nvSpPr>
        <p:spPr>
          <a:xfrm>
            <a:off x="838200" y="6235700"/>
            <a:ext cx="889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1300">
                <a:solidFill>
                  <a:srgbClr val="A8BACB"/>
                </a:solidFill>
                <a:latin typeface="Arial" panose="020B0604020202020204" pitchFamily="34" charset="0"/>
              </a:rPr>
              <a:t>Prototype local · 26 septembre 2026</a:t>
            </a:r>
            <a:endParaRPr lang="en-US" sz="1300">
              <a:solidFill>
                <a:srgbClr val="A8BACB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0715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4949FC-187D-8171-98FB-E8908C521B3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52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9A803D-856D-0057-768A-4B6C79E8E0E9}"/>
              </a:ext>
            </a:extLst>
          </p:cNvPr>
          <p:cNvSpPr txBox="1"/>
          <p:nvPr/>
        </p:nvSpPr>
        <p:spPr>
          <a:xfrm>
            <a:off x="736600" y="533400"/>
            <a:ext cx="107188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200" b="1">
                <a:solidFill>
                  <a:srgbClr val="EEF5FA"/>
                </a:solidFill>
                <a:latin typeface="Arial" panose="020B0604020202020204" pitchFamily="34" charset="0"/>
              </a:rPr>
              <a:t>Le problème traité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7282FCD-A2BF-970F-20E6-8F56EABBFC1E}"/>
              </a:ext>
            </a:extLst>
          </p:cNvPr>
          <p:cNvCxnSpPr/>
          <p:nvPr/>
        </p:nvCxnSpPr>
        <p:spPr>
          <a:xfrm>
            <a:off x="736600" y="1422400"/>
            <a:ext cx="10718800" cy="0"/>
          </a:xfrm>
          <a:prstGeom prst="line">
            <a:avLst/>
          </a:prstGeom>
          <a:ln w="12700">
            <a:solidFill>
              <a:srgbClr val="2B40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70ED7B3-C0B8-DD8C-1C4E-AF8B8D08F782}"/>
              </a:ext>
            </a:extLst>
          </p:cNvPr>
          <p:cNvSpPr txBox="1"/>
          <p:nvPr/>
        </p:nvSpPr>
        <p:spPr>
          <a:xfrm>
            <a:off x="736600" y="6527800"/>
            <a:ext cx="838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sv-SE" sz="1000">
                <a:solidFill>
                  <a:srgbClr val="A8BACB"/>
                </a:solidFill>
                <a:latin typeface="Arial" panose="020B0604020202020204" pitchFamily="34" charset="0"/>
              </a:rPr>
              <a:t>AI Budget Shock Radar · Prototype hackathon</a:t>
            </a:r>
            <a:endParaRPr lang="en-US" sz="1000">
              <a:solidFill>
                <a:srgbClr val="A8BACB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0614A6-28D8-336E-40EE-A064B7E7C8F6}"/>
              </a:ext>
            </a:extLst>
          </p:cNvPr>
          <p:cNvSpPr txBox="1"/>
          <p:nvPr/>
        </p:nvSpPr>
        <p:spPr>
          <a:xfrm>
            <a:off x="10541000" y="6527800"/>
            <a:ext cx="914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000">
                <a:solidFill>
                  <a:srgbClr val="A8BACB"/>
                </a:solidFill>
                <a:latin typeface="Arial" panose="020B0604020202020204" pitchFamily="34" charset="0"/>
              </a:rPr>
              <a:t>02 / 12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B1DE58-9AF1-B116-75D2-B1CFA0F44A57}"/>
              </a:ext>
            </a:extLst>
          </p:cNvPr>
          <p:cNvSpPr txBox="1"/>
          <p:nvPr/>
        </p:nvSpPr>
        <p:spPr>
          <a:xfrm>
            <a:off x="787400" y="1828800"/>
            <a:ext cx="106172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2400" b="1">
                <a:solidFill>
                  <a:srgbClr val="EEF5FA"/>
                </a:solidFill>
                <a:latin typeface="Arial" panose="020B0604020202020204" pitchFamily="34" charset="0"/>
              </a:rPr>
              <a:t>Les prix internationaux et les devises changent avant que leur effet budgétaire soit visible dans les données dʼexécution.</a:t>
            </a:r>
            <a:endParaRPr lang="en-US" sz="2400" b="1">
              <a:solidFill>
                <a:srgbClr val="EEF5FA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3C0796-AC51-371C-25CD-6022308E94AD}"/>
              </a:ext>
            </a:extLst>
          </p:cNvPr>
          <p:cNvSpPr txBox="1"/>
          <p:nvPr/>
        </p:nvSpPr>
        <p:spPr>
          <a:xfrm>
            <a:off x="787400" y="3683000"/>
            <a:ext cx="29972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46C8C0"/>
                </a:solidFill>
                <a:latin typeface="Arial" panose="020B0604020202020204" pitchFamily="34" charset="0"/>
              </a:rPr>
              <a:t>Pétrole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59C6A4-CBA3-0F3E-B266-FEC6CF08E137}"/>
              </a:ext>
            </a:extLst>
          </p:cNvPr>
          <p:cNvSpPr txBox="1"/>
          <p:nvPr/>
        </p:nvSpPr>
        <p:spPr>
          <a:xfrm>
            <a:off x="787400" y="4241800"/>
            <a:ext cx="2921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>
                <a:solidFill>
                  <a:srgbClr val="A8BACB"/>
                </a:solidFill>
                <a:latin typeface="Arial" panose="020B0604020202020204" pitchFamily="34" charset="0"/>
              </a:rPr>
              <a:t>Coût potentiel du soutien aux carburants</a:t>
            </a:r>
            <a:endParaRPr lang="en-US">
              <a:solidFill>
                <a:srgbClr val="A8BACB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CC8D79-9F04-55E9-89B8-9F816FBB02C1}"/>
              </a:ext>
            </a:extLst>
          </p:cNvPr>
          <p:cNvSpPr txBox="1"/>
          <p:nvPr/>
        </p:nvSpPr>
        <p:spPr>
          <a:xfrm>
            <a:off x="4521200" y="3683000"/>
            <a:ext cx="29972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46C8C0"/>
                </a:solidFill>
                <a:latin typeface="Arial" panose="020B0604020202020204" pitchFamily="34" charset="0"/>
              </a:rPr>
              <a:t>Blé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5AF284-3A04-6B2C-47A6-BBA1F298896C}"/>
              </a:ext>
            </a:extLst>
          </p:cNvPr>
          <p:cNvSpPr txBox="1"/>
          <p:nvPr/>
        </p:nvSpPr>
        <p:spPr>
          <a:xfrm>
            <a:off x="4521200" y="4241800"/>
            <a:ext cx="2921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>
                <a:solidFill>
                  <a:srgbClr val="A8BACB"/>
                </a:solidFill>
                <a:latin typeface="Arial" panose="020B0604020202020204" pitchFamily="34" charset="0"/>
              </a:rPr>
              <a:t>Pression possible sur le soutien alimentaire</a:t>
            </a:r>
            <a:endParaRPr lang="en-US">
              <a:solidFill>
                <a:srgbClr val="A8BACB"/>
              </a:solidFill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BFF28B-83A6-E40D-6F53-3BF9CB555B24}"/>
              </a:ext>
            </a:extLst>
          </p:cNvPr>
          <p:cNvSpPr txBox="1"/>
          <p:nvPr/>
        </p:nvSpPr>
        <p:spPr>
          <a:xfrm>
            <a:off x="8255000" y="3683000"/>
            <a:ext cx="29972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46C8C0"/>
                </a:solidFill>
                <a:latin typeface="Arial" panose="020B0604020202020204" pitchFamily="34" charset="0"/>
              </a:rPr>
              <a:t>Change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F4CE37-3E9D-94EA-F58F-9CB6985EA728}"/>
              </a:ext>
            </a:extLst>
          </p:cNvPr>
          <p:cNvSpPr txBox="1"/>
          <p:nvPr/>
        </p:nvSpPr>
        <p:spPr>
          <a:xfrm>
            <a:off x="8255000" y="4241800"/>
            <a:ext cx="2921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>
                <a:solidFill>
                  <a:srgbClr val="A8BACB"/>
                </a:solidFill>
                <a:latin typeface="Arial" panose="020B0604020202020204" pitchFamily="34" charset="0"/>
              </a:rPr>
              <a:t>Dépenses et recettes sensibles au dinar</a:t>
            </a:r>
            <a:endParaRPr lang="en-US">
              <a:solidFill>
                <a:srgbClr val="A8BACB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24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8EC18A8-B2A9-7A61-D5E3-CE6B7943F75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52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F4BA92-2AF5-B123-22CF-B8846AC09D4B}"/>
              </a:ext>
            </a:extLst>
          </p:cNvPr>
          <p:cNvSpPr txBox="1"/>
          <p:nvPr/>
        </p:nvSpPr>
        <p:spPr>
          <a:xfrm>
            <a:off x="736600" y="533400"/>
            <a:ext cx="107188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3200" b="1">
                <a:solidFill>
                  <a:srgbClr val="EEF5FA"/>
                </a:solidFill>
                <a:latin typeface="Arial" panose="020B0604020202020204" pitchFamily="34" charset="0"/>
              </a:rPr>
              <a:t>Une alerte reliée à la prévision</a:t>
            </a:r>
            <a:endParaRPr lang="en-US" sz="3200" b="1">
              <a:solidFill>
                <a:srgbClr val="EEF5FA"/>
              </a:solidFill>
              <a:latin typeface="Arial" panose="020B060402020202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57EFA9C-A70C-C876-2D5E-1B5240621D17}"/>
              </a:ext>
            </a:extLst>
          </p:cNvPr>
          <p:cNvCxnSpPr/>
          <p:nvPr/>
        </p:nvCxnSpPr>
        <p:spPr>
          <a:xfrm>
            <a:off x="736600" y="1422400"/>
            <a:ext cx="10718800" cy="0"/>
          </a:xfrm>
          <a:prstGeom prst="line">
            <a:avLst/>
          </a:prstGeom>
          <a:ln w="12700">
            <a:solidFill>
              <a:srgbClr val="2B40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C33D713-7404-CD1B-38D3-FABB9A5EF811}"/>
              </a:ext>
            </a:extLst>
          </p:cNvPr>
          <p:cNvSpPr txBox="1"/>
          <p:nvPr/>
        </p:nvSpPr>
        <p:spPr>
          <a:xfrm>
            <a:off x="736600" y="6527800"/>
            <a:ext cx="838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sv-SE" sz="1000">
                <a:solidFill>
                  <a:srgbClr val="A8BACB"/>
                </a:solidFill>
                <a:latin typeface="Arial" panose="020B0604020202020204" pitchFamily="34" charset="0"/>
              </a:rPr>
              <a:t>AI Budget Shock Radar · Prototype hackathon</a:t>
            </a:r>
            <a:endParaRPr lang="en-US" sz="1000">
              <a:solidFill>
                <a:srgbClr val="A8BACB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E2711D-26D8-D9C5-07FD-C684C86490EA}"/>
              </a:ext>
            </a:extLst>
          </p:cNvPr>
          <p:cNvSpPr txBox="1"/>
          <p:nvPr/>
        </p:nvSpPr>
        <p:spPr>
          <a:xfrm>
            <a:off x="10541000" y="6527800"/>
            <a:ext cx="914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000">
                <a:solidFill>
                  <a:srgbClr val="A8BACB"/>
                </a:solidFill>
                <a:latin typeface="Arial" panose="020B0604020202020204" pitchFamily="34" charset="0"/>
              </a:rPr>
              <a:t>03 / 12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B6D6FF-29C6-AB35-CC2F-11838A0B7392}"/>
              </a:ext>
            </a:extLst>
          </p:cNvPr>
          <p:cNvSpPr txBox="1"/>
          <p:nvPr/>
        </p:nvSpPr>
        <p:spPr>
          <a:xfrm>
            <a:off x="787400" y="2235200"/>
            <a:ext cx="2159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300" b="1">
                <a:solidFill>
                  <a:srgbClr val="E9A55E"/>
                </a:solidFill>
                <a:latin typeface="Arial" panose="020B0604020202020204" pitchFamily="34" charset="0"/>
              </a:rPr>
              <a:t>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E2D836-95B4-DF58-BB27-E48F1F481697}"/>
              </a:ext>
            </a:extLst>
          </p:cNvPr>
          <p:cNvSpPr txBox="1"/>
          <p:nvPr/>
        </p:nvSpPr>
        <p:spPr>
          <a:xfrm>
            <a:off x="787400" y="2844800"/>
            <a:ext cx="23368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b="1">
                <a:solidFill>
                  <a:srgbClr val="EEF5FA"/>
                </a:solidFill>
                <a:latin typeface="Arial" panose="020B0604020202020204" pitchFamily="34" charset="0"/>
              </a:rPr>
              <a:t>Séries mensuelles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B11FBD9-3B46-BDE7-AA14-AD9BD2644E22}"/>
              </a:ext>
            </a:extLst>
          </p:cNvPr>
          <p:cNvCxnSpPr/>
          <p:nvPr/>
        </p:nvCxnSpPr>
        <p:spPr>
          <a:xfrm>
            <a:off x="3073400" y="3124200"/>
            <a:ext cx="330200" cy="0"/>
          </a:xfrm>
          <a:prstGeom prst="line">
            <a:avLst/>
          </a:prstGeom>
          <a:ln w="25400">
            <a:solidFill>
              <a:srgbClr val="46C8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CF976FA-8804-9A40-3B9D-2EA78AAE074D}"/>
              </a:ext>
            </a:extLst>
          </p:cNvPr>
          <p:cNvSpPr txBox="1"/>
          <p:nvPr/>
        </p:nvSpPr>
        <p:spPr>
          <a:xfrm>
            <a:off x="3632200" y="2235200"/>
            <a:ext cx="2159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300" b="1">
                <a:solidFill>
                  <a:srgbClr val="E9A55E"/>
                </a:solidFill>
                <a:latin typeface="Arial" panose="020B0604020202020204" pitchFamily="34" charset="0"/>
              </a:rPr>
              <a:t>02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0B13E0-BE92-9962-137E-77CF511EA37B}"/>
              </a:ext>
            </a:extLst>
          </p:cNvPr>
          <p:cNvSpPr txBox="1"/>
          <p:nvPr/>
        </p:nvSpPr>
        <p:spPr>
          <a:xfrm>
            <a:off x="3632200" y="2844800"/>
            <a:ext cx="23368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b="1">
                <a:solidFill>
                  <a:srgbClr val="EEF5FA"/>
                </a:solidFill>
                <a:latin typeface="Arial" panose="020B0604020202020204" pitchFamily="34" charset="0"/>
              </a:rPr>
              <a:t>Prévision Prophet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0AE521E-E4A4-83D5-7427-FEABC91505F0}"/>
              </a:ext>
            </a:extLst>
          </p:cNvPr>
          <p:cNvCxnSpPr/>
          <p:nvPr/>
        </p:nvCxnSpPr>
        <p:spPr>
          <a:xfrm>
            <a:off x="5918200" y="3124200"/>
            <a:ext cx="330200" cy="0"/>
          </a:xfrm>
          <a:prstGeom prst="line">
            <a:avLst/>
          </a:prstGeom>
          <a:ln w="25400">
            <a:solidFill>
              <a:srgbClr val="46C8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529E0AE-BA23-2A0F-BABB-141B4A789311}"/>
              </a:ext>
            </a:extLst>
          </p:cNvPr>
          <p:cNvSpPr txBox="1"/>
          <p:nvPr/>
        </p:nvSpPr>
        <p:spPr>
          <a:xfrm>
            <a:off x="6477000" y="2235200"/>
            <a:ext cx="2159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300" b="1">
                <a:solidFill>
                  <a:srgbClr val="E9A55E"/>
                </a:solidFill>
                <a:latin typeface="Arial" panose="020B0604020202020204" pitchFamily="34" charset="0"/>
              </a:rPr>
              <a:t>03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C9BF1F-AD7E-2174-91AD-09710E469B48}"/>
              </a:ext>
            </a:extLst>
          </p:cNvPr>
          <p:cNvSpPr txBox="1"/>
          <p:nvPr/>
        </p:nvSpPr>
        <p:spPr>
          <a:xfrm>
            <a:off x="6477000" y="2844800"/>
            <a:ext cx="2336800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b="1">
                <a:solidFill>
                  <a:srgbClr val="EEF5FA"/>
                </a:solidFill>
                <a:latin typeface="Arial" panose="020B0604020202020204" pitchFamily="34" charset="0"/>
              </a:rPr>
              <a:t>Événements retenus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5067618-7227-E973-8CA5-26BBFBBB9AEF}"/>
              </a:ext>
            </a:extLst>
          </p:cNvPr>
          <p:cNvCxnSpPr/>
          <p:nvPr/>
        </p:nvCxnSpPr>
        <p:spPr>
          <a:xfrm>
            <a:off x="8763000" y="3124200"/>
            <a:ext cx="330200" cy="0"/>
          </a:xfrm>
          <a:prstGeom prst="line">
            <a:avLst/>
          </a:prstGeom>
          <a:ln w="25400">
            <a:solidFill>
              <a:srgbClr val="46C8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0094788-649F-9C63-7B31-BC0EE1AFB60B}"/>
              </a:ext>
            </a:extLst>
          </p:cNvPr>
          <p:cNvSpPr txBox="1"/>
          <p:nvPr/>
        </p:nvSpPr>
        <p:spPr>
          <a:xfrm>
            <a:off x="9321800" y="2235200"/>
            <a:ext cx="2159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300" b="1">
                <a:solidFill>
                  <a:srgbClr val="E9A55E"/>
                </a:solidFill>
                <a:latin typeface="Arial" panose="020B0604020202020204" pitchFamily="34" charset="0"/>
              </a:rPr>
              <a:t>04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891137D-BB31-804B-7C6B-22BA2BFB7059}"/>
              </a:ext>
            </a:extLst>
          </p:cNvPr>
          <p:cNvSpPr txBox="1"/>
          <p:nvPr/>
        </p:nvSpPr>
        <p:spPr>
          <a:xfrm>
            <a:off x="9321800" y="2844800"/>
            <a:ext cx="23368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b="1">
                <a:solidFill>
                  <a:srgbClr val="EEF5FA"/>
                </a:solidFill>
                <a:latin typeface="Arial" panose="020B0604020202020204" pitchFamily="34" charset="0"/>
              </a:rPr>
              <a:t>Impacts simulés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CBF49B-96EF-A08A-4731-92875A9B0627}"/>
              </a:ext>
            </a:extLst>
          </p:cNvPr>
          <p:cNvSpPr txBox="1"/>
          <p:nvPr/>
        </p:nvSpPr>
        <p:spPr>
          <a:xfrm>
            <a:off x="787400" y="4419600"/>
            <a:ext cx="10541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2100">
                <a:solidFill>
                  <a:srgbClr val="A8BACB"/>
                </a:solidFill>
                <a:latin typeface="Arial" panose="020B0604020202020204" pitchFamily="34" charset="0"/>
              </a:rPr>
              <a:t>Le tableau de bord rapproche la trajectoire avant et après actualités, puis affiche les catégories budgétaires concernées.</a:t>
            </a:r>
            <a:endParaRPr lang="en-US" sz="2100">
              <a:solidFill>
                <a:srgbClr val="A8BACB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1700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1F4D83-E781-6A9A-67BB-6B12BB5059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52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80947E-46E2-F4EC-10AE-0902361D720B}"/>
              </a:ext>
            </a:extLst>
          </p:cNvPr>
          <p:cNvSpPr txBox="1"/>
          <p:nvPr/>
        </p:nvSpPr>
        <p:spPr>
          <a:xfrm>
            <a:off x="736600" y="533400"/>
            <a:ext cx="107188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200" b="1">
                <a:solidFill>
                  <a:srgbClr val="EEF5FA"/>
                </a:solidFill>
                <a:latin typeface="Arial" panose="020B0604020202020204" pitchFamily="34" charset="0"/>
              </a:rPr>
              <a:t>Données utilisées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453B7CB-1281-00B9-9F63-8D82C097708E}"/>
              </a:ext>
            </a:extLst>
          </p:cNvPr>
          <p:cNvCxnSpPr/>
          <p:nvPr/>
        </p:nvCxnSpPr>
        <p:spPr>
          <a:xfrm>
            <a:off x="736600" y="1422400"/>
            <a:ext cx="10718800" cy="0"/>
          </a:xfrm>
          <a:prstGeom prst="line">
            <a:avLst/>
          </a:prstGeom>
          <a:ln w="12700">
            <a:solidFill>
              <a:srgbClr val="2B40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53DA7A8-C822-4642-330A-B6F0A9A2C06E}"/>
              </a:ext>
            </a:extLst>
          </p:cNvPr>
          <p:cNvSpPr txBox="1"/>
          <p:nvPr/>
        </p:nvSpPr>
        <p:spPr>
          <a:xfrm>
            <a:off x="736600" y="6527800"/>
            <a:ext cx="838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sv-SE" sz="1000">
                <a:solidFill>
                  <a:srgbClr val="A8BACB"/>
                </a:solidFill>
                <a:latin typeface="Arial" panose="020B0604020202020204" pitchFamily="34" charset="0"/>
              </a:rPr>
              <a:t>AI Budget Shock Radar · Prototype hackathon</a:t>
            </a:r>
            <a:endParaRPr lang="en-US" sz="1000">
              <a:solidFill>
                <a:srgbClr val="A8BACB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46F440-6590-F54B-A9B2-9CF4799E7914}"/>
              </a:ext>
            </a:extLst>
          </p:cNvPr>
          <p:cNvSpPr txBox="1"/>
          <p:nvPr/>
        </p:nvSpPr>
        <p:spPr>
          <a:xfrm>
            <a:off x="10541000" y="6527800"/>
            <a:ext cx="914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000">
                <a:solidFill>
                  <a:srgbClr val="A8BACB"/>
                </a:solidFill>
                <a:latin typeface="Arial" panose="020B0604020202020204" pitchFamily="34" charset="0"/>
              </a:rPr>
              <a:t>04 / 12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99A2B3-345C-B128-C7FB-C392F38BDC89}"/>
              </a:ext>
            </a:extLst>
          </p:cNvPr>
          <p:cNvSpPr txBox="1"/>
          <p:nvPr/>
        </p:nvSpPr>
        <p:spPr>
          <a:xfrm>
            <a:off x="787400" y="1841500"/>
            <a:ext cx="10160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2500" b="1">
                <a:solidFill>
                  <a:srgbClr val="46C8C0"/>
                </a:solidFill>
                <a:latin typeface="Arial" panose="020B0604020202020204" pitchFamily="34" charset="0"/>
              </a:rPr>
              <a:t>318 observations dʼindicateurs dans DuckDB</a:t>
            </a:r>
            <a:endParaRPr lang="en-US" sz="2500" b="1">
              <a:solidFill>
                <a:srgbClr val="46C8C0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8E735B-3DF8-7ED2-A6CE-62828805A84B}"/>
              </a:ext>
            </a:extLst>
          </p:cNvPr>
          <p:cNvSpPr txBox="1"/>
          <p:nvPr/>
        </p:nvSpPr>
        <p:spPr>
          <a:xfrm>
            <a:off x="787400" y="2654300"/>
            <a:ext cx="31115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>
                <a:solidFill>
                  <a:srgbClr val="EEF5FA"/>
                </a:solidFill>
                <a:latin typeface="Arial" panose="020B0604020202020204" pitchFamily="34" charset="0"/>
              </a:rPr>
              <a:t>Brent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CC650D-4488-16EA-6773-D807F30131F1}"/>
              </a:ext>
            </a:extLst>
          </p:cNvPr>
          <p:cNvSpPr txBox="1"/>
          <p:nvPr/>
        </p:nvSpPr>
        <p:spPr>
          <a:xfrm>
            <a:off x="3784600" y="2654300"/>
            <a:ext cx="8255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900" b="1">
                <a:solidFill>
                  <a:srgbClr val="46C8C0"/>
                </a:solidFill>
                <a:latin typeface="Arial" panose="020B0604020202020204" pitchFamily="34" charset="0"/>
              </a:rPr>
              <a:t>52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2D106B4-A86C-C2FB-918F-E9E0D360FBFF}"/>
              </a:ext>
            </a:extLst>
          </p:cNvPr>
          <p:cNvCxnSpPr/>
          <p:nvPr/>
        </p:nvCxnSpPr>
        <p:spPr>
          <a:xfrm>
            <a:off x="787400" y="3060700"/>
            <a:ext cx="3848100" cy="0"/>
          </a:xfrm>
          <a:prstGeom prst="line">
            <a:avLst/>
          </a:prstGeom>
          <a:ln w="12700">
            <a:solidFill>
              <a:srgbClr val="2B40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109E81A-ED7B-E4CF-EFEC-47561D808BE9}"/>
              </a:ext>
            </a:extLst>
          </p:cNvPr>
          <p:cNvSpPr txBox="1"/>
          <p:nvPr/>
        </p:nvSpPr>
        <p:spPr>
          <a:xfrm>
            <a:off x="787400" y="3175000"/>
            <a:ext cx="31115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>
                <a:solidFill>
                  <a:srgbClr val="EEF5FA"/>
                </a:solidFill>
                <a:latin typeface="Arial" panose="020B0604020202020204" pitchFamily="34" charset="0"/>
              </a:rPr>
              <a:t>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6506F0-D5CE-4CC9-657F-12B84A118CAC}"/>
              </a:ext>
            </a:extLst>
          </p:cNvPr>
          <p:cNvSpPr txBox="1"/>
          <p:nvPr/>
        </p:nvSpPr>
        <p:spPr>
          <a:xfrm>
            <a:off x="3784600" y="3175000"/>
            <a:ext cx="8255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900" b="1">
                <a:solidFill>
                  <a:srgbClr val="46C8C0"/>
                </a:solidFill>
                <a:latin typeface="Arial" panose="020B0604020202020204" pitchFamily="34" charset="0"/>
              </a:rPr>
              <a:t>52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6D3D493-CECF-4C89-5053-60D02068B816}"/>
              </a:ext>
            </a:extLst>
          </p:cNvPr>
          <p:cNvCxnSpPr/>
          <p:nvPr/>
        </p:nvCxnSpPr>
        <p:spPr>
          <a:xfrm>
            <a:off x="787400" y="3581400"/>
            <a:ext cx="3848100" cy="0"/>
          </a:xfrm>
          <a:prstGeom prst="line">
            <a:avLst/>
          </a:prstGeom>
          <a:ln w="12700">
            <a:solidFill>
              <a:srgbClr val="2B40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AD417F5-D6BD-A199-A73A-3C63E63E6750}"/>
              </a:ext>
            </a:extLst>
          </p:cNvPr>
          <p:cNvSpPr txBox="1"/>
          <p:nvPr/>
        </p:nvSpPr>
        <p:spPr>
          <a:xfrm>
            <a:off x="787400" y="3695700"/>
            <a:ext cx="31115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>
                <a:solidFill>
                  <a:srgbClr val="EEF5FA"/>
                </a:solidFill>
                <a:latin typeface="Arial" panose="020B0604020202020204" pitchFamily="34" charset="0"/>
              </a:rPr>
              <a:t>EUR/TND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13A26B-9347-27A3-496D-037E42994C9F}"/>
              </a:ext>
            </a:extLst>
          </p:cNvPr>
          <p:cNvSpPr txBox="1"/>
          <p:nvPr/>
        </p:nvSpPr>
        <p:spPr>
          <a:xfrm>
            <a:off x="3784600" y="3695700"/>
            <a:ext cx="8255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900" b="1">
                <a:solidFill>
                  <a:srgbClr val="46C8C0"/>
                </a:solidFill>
                <a:latin typeface="Arial" panose="020B0604020202020204" pitchFamily="34" charset="0"/>
              </a:rPr>
              <a:t>60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8AD90AC-0B13-091E-C480-2C113D67AFB3}"/>
              </a:ext>
            </a:extLst>
          </p:cNvPr>
          <p:cNvCxnSpPr/>
          <p:nvPr/>
        </p:nvCxnSpPr>
        <p:spPr>
          <a:xfrm>
            <a:off x="787400" y="4102100"/>
            <a:ext cx="3848100" cy="0"/>
          </a:xfrm>
          <a:prstGeom prst="line">
            <a:avLst/>
          </a:prstGeom>
          <a:ln w="12700">
            <a:solidFill>
              <a:srgbClr val="2B40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330339F-8D91-75D1-66FC-6DCBE8537C3F}"/>
              </a:ext>
            </a:extLst>
          </p:cNvPr>
          <p:cNvSpPr txBox="1"/>
          <p:nvPr/>
        </p:nvSpPr>
        <p:spPr>
          <a:xfrm>
            <a:off x="787400" y="4216400"/>
            <a:ext cx="31115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>
                <a:solidFill>
                  <a:srgbClr val="EEF5FA"/>
                </a:solidFill>
                <a:latin typeface="Arial" panose="020B0604020202020204" pitchFamily="34" charset="0"/>
              </a:rPr>
              <a:t>USD/TND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D63865-F66F-6CEA-7783-0E0FAFC9C55E}"/>
              </a:ext>
            </a:extLst>
          </p:cNvPr>
          <p:cNvSpPr txBox="1"/>
          <p:nvPr/>
        </p:nvSpPr>
        <p:spPr>
          <a:xfrm>
            <a:off x="3784600" y="4216400"/>
            <a:ext cx="8255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900" b="1">
                <a:solidFill>
                  <a:srgbClr val="46C8C0"/>
                </a:solidFill>
                <a:latin typeface="Arial" panose="020B0604020202020204" pitchFamily="34" charset="0"/>
              </a:rPr>
              <a:t>60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DB072FC-B339-4652-5C2D-D0B4A5FAE75F}"/>
              </a:ext>
            </a:extLst>
          </p:cNvPr>
          <p:cNvCxnSpPr/>
          <p:nvPr/>
        </p:nvCxnSpPr>
        <p:spPr>
          <a:xfrm>
            <a:off x="787400" y="4622800"/>
            <a:ext cx="3848100" cy="0"/>
          </a:xfrm>
          <a:prstGeom prst="line">
            <a:avLst/>
          </a:prstGeom>
          <a:ln w="12700">
            <a:solidFill>
              <a:srgbClr val="2B40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D025E76-EA17-281C-12DA-8B0237408724}"/>
              </a:ext>
            </a:extLst>
          </p:cNvPr>
          <p:cNvSpPr txBox="1"/>
          <p:nvPr/>
        </p:nvSpPr>
        <p:spPr>
          <a:xfrm>
            <a:off x="787400" y="4737100"/>
            <a:ext cx="31115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>
                <a:solidFill>
                  <a:srgbClr val="EEF5FA"/>
                </a:solidFill>
                <a:latin typeface="Arial" panose="020B0604020202020204" pitchFamily="34" charset="0"/>
              </a:rPr>
              <a:t>Blé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CAE182-9834-412B-9DEE-9F7C777378B4}"/>
              </a:ext>
            </a:extLst>
          </p:cNvPr>
          <p:cNvSpPr txBox="1"/>
          <p:nvPr/>
        </p:nvSpPr>
        <p:spPr>
          <a:xfrm>
            <a:off x="3784600" y="4737100"/>
            <a:ext cx="8255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900" b="1">
                <a:solidFill>
                  <a:srgbClr val="46C8C0"/>
                </a:solidFill>
                <a:latin typeface="Arial" panose="020B0604020202020204" pitchFamily="34" charset="0"/>
              </a:rPr>
              <a:t>52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07821A8-14B8-2E97-41C3-DD76A1EF0895}"/>
              </a:ext>
            </a:extLst>
          </p:cNvPr>
          <p:cNvCxnSpPr/>
          <p:nvPr/>
        </p:nvCxnSpPr>
        <p:spPr>
          <a:xfrm>
            <a:off x="787400" y="5143500"/>
            <a:ext cx="3848100" cy="0"/>
          </a:xfrm>
          <a:prstGeom prst="line">
            <a:avLst/>
          </a:prstGeom>
          <a:ln w="12700">
            <a:solidFill>
              <a:srgbClr val="2B40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89071D4-7FFB-681B-EA5E-0BF0883E68C0}"/>
              </a:ext>
            </a:extLst>
          </p:cNvPr>
          <p:cNvSpPr txBox="1"/>
          <p:nvPr/>
        </p:nvSpPr>
        <p:spPr>
          <a:xfrm>
            <a:off x="787400" y="5257800"/>
            <a:ext cx="31115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>
                <a:solidFill>
                  <a:srgbClr val="EEF5FA"/>
                </a:solidFill>
                <a:latin typeface="Arial" panose="020B0604020202020204" pitchFamily="34" charset="0"/>
              </a:rPr>
              <a:t>CPI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D1F76BD-FB95-B1DB-4FC1-03B4A932F098}"/>
              </a:ext>
            </a:extLst>
          </p:cNvPr>
          <p:cNvSpPr txBox="1"/>
          <p:nvPr/>
        </p:nvSpPr>
        <p:spPr>
          <a:xfrm>
            <a:off x="3784600" y="5257800"/>
            <a:ext cx="8255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900" b="1">
                <a:solidFill>
                  <a:srgbClr val="46C8C0"/>
                </a:solidFill>
                <a:latin typeface="Arial" panose="020B0604020202020204" pitchFamily="34" charset="0"/>
              </a:rPr>
              <a:t>42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57D6F00-A8C1-90FA-00AF-E51942C4D910}"/>
              </a:ext>
            </a:extLst>
          </p:cNvPr>
          <p:cNvCxnSpPr/>
          <p:nvPr/>
        </p:nvCxnSpPr>
        <p:spPr>
          <a:xfrm>
            <a:off x="787400" y="5664200"/>
            <a:ext cx="3848100" cy="0"/>
          </a:xfrm>
          <a:prstGeom prst="line">
            <a:avLst/>
          </a:prstGeom>
          <a:ln w="12700">
            <a:solidFill>
              <a:srgbClr val="2B40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9C51A984-7813-F6EA-38C1-F318B49D0DFD}"/>
              </a:ext>
            </a:extLst>
          </p:cNvPr>
          <p:cNvSpPr txBox="1"/>
          <p:nvPr/>
        </p:nvSpPr>
        <p:spPr>
          <a:xfrm>
            <a:off x="5651500" y="2743200"/>
            <a:ext cx="5461000" cy="9233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2000">
                <a:solidFill>
                  <a:srgbClr val="EEF5FA"/>
                </a:solidFill>
                <a:latin typeface="Arial" panose="020B0604020202020204" pitchFamily="34" charset="0"/>
              </a:rPr>
              <a:t>5 séries disposent dʼune prévision mensuelle. Le CPI reste hors prévision car son historique disponible nʼest pas suffisamment mensuel.</a:t>
            </a:r>
            <a:endParaRPr lang="en-US" sz="2000">
              <a:solidFill>
                <a:srgbClr val="EEF5FA"/>
              </a:solidFill>
              <a:latin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3CAC78A-843B-CEDF-4CDF-50E721C3C98A}"/>
              </a:ext>
            </a:extLst>
          </p:cNvPr>
          <p:cNvSpPr txBox="1"/>
          <p:nvPr/>
        </p:nvSpPr>
        <p:spPr>
          <a:xfrm>
            <a:off x="5651500" y="4737100"/>
            <a:ext cx="54610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1700">
                <a:solidFill>
                  <a:srgbClr val="A8BACB"/>
                </a:solidFill>
                <a:latin typeface="Arial" panose="020B0604020202020204" pitchFamily="34" charset="0"/>
              </a:rPr>
              <a:t>Les CSV/JSON bruts restent inchangés. Les références budgétaires du prototype sont synthétiques et indicatives.</a:t>
            </a:r>
            <a:endParaRPr lang="en-US" sz="1700">
              <a:solidFill>
                <a:srgbClr val="A8BACB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4948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05BE697-3E25-348C-86D7-362B2552716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52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CD19D0-47D7-DE4F-E6A9-D4BA843AC67F}"/>
              </a:ext>
            </a:extLst>
          </p:cNvPr>
          <p:cNvSpPr txBox="1"/>
          <p:nvPr/>
        </p:nvSpPr>
        <p:spPr>
          <a:xfrm>
            <a:off x="736600" y="533400"/>
            <a:ext cx="107188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200" b="1">
                <a:solidFill>
                  <a:srgbClr val="EEF5FA"/>
                </a:solidFill>
                <a:latin typeface="Arial" panose="020B0604020202020204" pitchFamily="34" charset="0"/>
              </a:rPr>
              <a:t>Pipeline technique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161AD64-1A2A-745B-C8D7-8576625D763B}"/>
              </a:ext>
            </a:extLst>
          </p:cNvPr>
          <p:cNvCxnSpPr/>
          <p:nvPr/>
        </p:nvCxnSpPr>
        <p:spPr>
          <a:xfrm>
            <a:off x="736600" y="1422400"/>
            <a:ext cx="10718800" cy="0"/>
          </a:xfrm>
          <a:prstGeom prst="line">
            <a:avLst/>
          </a:prstGeom>
          <a:ln w="12700">
            <a:solidFill>
              <a:srgbClr val="2B40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ADCFB90-E2A2-58FB-768F-32BDF630989D}"/>
              </a:ext>
            </a:extLst>
          </p:cNvPr>
          <p:cNvSpPr txBox="1"/>
          <p:nvPr/>
        </p:nvSpPr>
        <p:spPr>
          <a:xfrm>
            <a:off x="736600" y="6527800"/>
            <a:ext cx="838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sv-SE" sz="1000">
                <a:solidFill>
                  <a:srgbClr val="A8BACB"/>
                </a:solidFill>
                <a:latin typeface="Arial" panose="020B0604020202020204" pitchFamily="34" charset="0"/>
              </a:rPr>
              <a:t>AI Budget Shock Radar · Prototype hackathon</a:t>
            </a:r>
            <a:endParaRPr lang="en-US" sz="1000">
              <a:solidFill>
                <a:srgbClr val="A8BACB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6FF798-9E5A-1718-3488-A8C818C22F2E}"/>
              </a:ext>
            </a:extLst>
          </p:cNvPr>
          <p:cNvSpPr txBox="1"/>
          <p:nvPr/>
        </p:nvSpPr>
        <p:spPr>
          <a:xfrm>
            <a:off x="10541000" y="6527800"/>
            <a:ext cx="914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000">
                <a:solidFill>
                  <a:srgbClr val="A8BACB"/>
                </a:solidFill>
                <a:latin typeface="Arial" panose="020B0604020202020204" pitchFamily="34" charset="0"/>
              </a:rPr>
              <a:t>05 / 12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C72FEE-1793-2545-891C-A7C583C8D60F}"/>
              </a:ext>
            </a:extLst>
          </p:cNvPr>
          <p:cNvSpPr txBox="1"/>
          <p:nvPr/>
        </p:nvSpPr>
        <p:spPr>
          <a:xfrm>
            <a:off x="787400" y="1803400"/>
            <a:ext cx="7112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E9A55E"/>
                </a:solidFill>
                <a:latin typeface="Arial" panose="020B0604020202020204" pitchFamily="34" charset="0"/>
              </a:rPr>
              <a:t>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88DA76-E1C7-A32A-4DD6-119908B37098}"/>
              </a:ext>
            </a:extLst>
          </p:cNvPr>
          <p:cNvSpPr txBox="1"/>
          <p:nvPr/>
        </p:nvSpPr>
        <p:spPr>
          <a:xfrm>
            <a:off x="1765300" y="1803400"/>
            <a:ext cx="28575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00" b="1">
                <a:solidFill>
                  <a:srgbClr val="EEF5FA"/>
                </a:solidFill>
                <a:latin typeface="Arial" panose="020B0604020202020204" pitchFamily="34" charset="0"/>
              </a:rPr>
              <a:t>ETL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D1837E-AAE0-3FA1-B25C-5F114BA6B9DB}"/>
              </a:ext>
            </a:extLst>
          </p:cNvPr>
          <p:cNvSpPr txBox="1"/>
          <p:nvPr/>
        </p:nvSpPr>
        <p:spPr>
          <a:xfrm>
            <a:off x="4953000" y="1803400"/>
            <a:ext cx="654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>
                <a:solidFill>
                  <a:srgbClr val="A8BACB"/>
                </a:solidFill>
                <a:latin typeface="Arial" panose="020B0604020202020204" pitchFamily="34" charset="0"/>
              </a:rPr>
              <a:t>Nettoyage des CSV/JSON et stockage Parquet</a:t>
            </a:r>
            <a:endParaRPr lang="en-US">
              <a:solidFill>
                <a:srgbClr val="A8BACB"/>
              </a:solidFill>
              <a:latin typeface="Arial" panose="020B0604020202020204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13153EA-F288-DDA9-7B6F-E46197B47DB9}"/>
              </a:ext>
            </a:extLst>
          </p:cNvPr>
          <p:cNvCxnSpPr/>
          <p:nvPr/>
        </p:nvCxnSpPr>
        <p:spPr>
          <a:xfrm>
            <a:off x="787400" y="2438400"/>
            <a:ext cx="10642600" cy="0"/>
          </a:xfrm>
          <a:prstGeom prst="line">
            <a:avLst/>
          </a:prstGeom>
          <a:ln w="12700">
            <a:solidFill>
              <a:srgbClr val="2B40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51E934E-5359-D17C-BA92-86BCCFCB0034}"/>
              </a:ext>
            </a:extLst>
          </p:cNvPr>
          <p:cNvSpPr txBox="1"/>
          <p:nvPr/>
        </p:nvSpPr>
        <p:spPr>
          <a:xfrm>
            <a:off x="787400" y="2679700"/>
            <a:ext cx="7112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E9A55E"/>
                </a:solidFill>
                <a:latin typeface="Arial" panose="020B0604020202020204" pitchFamily="34" charset="0"/>
              </a:rPr>
              <a:t>02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0CAE0B-CEB7-EDF3-1998-80A863416C4C}"/>
              </a:ext>
            </a:extLst>
          </p:cNvPr>
          <p:cNvSpPr txBox="1"/>
          <p:nvPr/>
        </p:nvSpPr>
        <p:spPr>
          <a:xfrm>
            <a:off x="1765300" y="2679700"/>
            <a:ext cx="28575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00" b="1">
                <a:solidFill>
                  <a:srgbClr val="EEF5FA"/>
                </a:solidFill>
                <a:latin typeface="Arial" panose="020B0604020202020204" pitchFamily="34" charset="0"/>
              </a:rPr>
              <a:t>DuckDB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C3D30D-C1E2-7650-4466-93A22C1DFAEA}"/>
              </a:ext>
            </a:extLst>
          </p:cNvPr>
          <p:cNvSpPr txBox="1"/>
          <p:nvPr/>
        </p:nvSpPr>
        <p:spPr>
          <a:xfrm>
            <a:off x="4953000" y="2679700"/>
            <a:ext cx="654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>
                <a:solidFill>
                  <a:srgbClr val="A8BACB"/>
                </a:solidFill>
                <a:latin typeface="Arial" panose="020B0604020202020204" pitchFamily="34" charset="0"/>
              </a:rPr>
              <a:t>Historique analytique et dimensions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3BE74A6-2F4D-42EA-A76E-0D93B414C46C}"/>
              </a:ext>
            </a:extLst>
          </p:cNvPr>
          <p:cNvCxnSpPr/>
          <p:nvPr/>
        </p:nvCxnSpPr>
        <p:spPr>
          <a:xfrm>
            <a:off x="787400" y="3314700"/>
            <a:ext cx="10642600" cy="0"/>
          </a:xfrm>
          <a:prstGeom prst="line">
            <a:avLst/>
          </a:prstGeom>
          <a:ln w="12700">
            <a:solidFill>
              <a:srgbClr val="2B40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35E84BD-E112-A9CA-24C3-2F3CA6EAF274}"/>
              </a:ext>
            </a:extLst>
          </p:cNvPr>
          <p:cNvSpPr txBox="1"/>
          <p:nvPr/>
        </p:nvSpPr>
        <p:spPr>
          <a:xfrm>
            <a:off x="787400" y="3556000"/>
            <a:ext cx="7112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E9A55E"/>
                </a:solidFill>
                <a:latin typeface="Arial" panose="020B0604020202020204" pitchFamily="34" charset="0"/>
              </a:rPr>
              <a:t>03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E77537-A9DA-3CB3-659F-24C5CBD9EB76}"/>
              </a:ext>
            </a:extLst>
          </p:cNvPr>
          <p:cNvSpPr txBox="1"/>
          <p:nvPr/>
        </p:nvSpPr>
        <p:spPr>
          <a:xfrm>
            <a:off x="1765300" y="3556000"/>
            <a:ext cx="28575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00" b="1">
                <a:solidFill>
                  <a:srgbClr val="EEF5FA"/>
                </a:solidFill>
                <a:latin typeface="Arial" panose="020B0604020202020204" pitchFamily="34" charset="0"/>
              </a:rPr>
              <a:t>Prophet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E8487C-81D9-329F-180A-B266F9096B20}"/>
              </a:ext>
            </a:extLst>
          </p:cNvPr>
          <p:cNvSpPr txBox="1"/>
          <p:nvPr/>
        </p:nvSpPr>
        <p:spPr>
          <a:xfrm>
            <a:off x="4953000" y="3556000"/>
            <a:ext cx="654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>
                <a:solidFill>
                  <a:srgbClr val="A8BACB"/>
                </a:solidFill>
                <a:latin typeface="Arial" panose="020B0604020202020204" pitchFamily="34" charset="0"/>
              </a:rPr>
              <a:t>Six mois de prévisions par indicateur</a:t>
            </a:r>
            <a:endParaRPr lang="en-US">
              <a:solidFill>
                <a:srgbClr val="A8BACB"/>
              </a:solidFill>
              <a:latin typeface="Arial" panose="020B0604020202020204" pitchFamily="34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D7BAAD6-EBF1-2044-8148-9B877A7E84B1}"/>
              </a:ext>
            </a:extLst>
          </p:cNvPr>
          <p:cNvCxnSpPr/>
          <p:nvPr/>
        </p:nvCxnSpPr>
        <p:spPr>
          <a:xfrm>
            <a:off x="787400" y="4191000"/>
            <a:ext cx="10642600" cy="0"/>
          </a:xfrm>
          <a:prstGeom prst="line">
            <a:avLst/>
          </a:prstGeom>
          <a:ln w="12700">
            <a:solidFill>
              <a:srgbClr val="2B40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DC69BC4-2610-22A7-02DE-F7F356CD198C}"/>
              </a:ext>
            </a:extLst>
          </p:cNvPr>
          <p:cNvSpPr txBox="1"/>
          <p:nvPr/>
        </p:nvSpPr>
        <p:spPr>
          <a:xfrm>
            <a:off x="787400" y="4432300"/>
            <a:ext cx="7112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E9A55E"/>
                </a:solidFill>
                <a:latin typeface="Arial" panose="020B0604020202020204" pitchFamily="34" charset="0"/>
              </a:rPr>
              <a:t>04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450426-8429-3DEB-CA90-0E55852AEDAF}"/>
              </a:ext>
            </a:extLst>
          </p:cNvPr>
          <p:cNvSpPr txBox="1"/>
          <p:nvPr/>
        </p:nvSpPr>
        <p:spPr>
          <a:xfrm>
            <a:off x="1765300" y="4432300"/>
            <a:ext cx="28575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00" b="1">
                <a:solidFill>
                  <a:srgbClr val="EEF5FA"/>
                </a:solidFill>
                <a:latin typeface="Arial" panose="020B0604020202020204" pitchFamily="34" charset="0"/>
              </a:rPr>
              <a:t>NewsAPI + Gemini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96166C1-7D06-1501-52AF-DFA7E7955BB9}"/>
              </a:ext>
            </a:extLst>
          </p:cNvPr>
          <p:cNvSpPr txBox="1"/>
          <p:nvPr/>
        </p:nvSpPr>
        <p:spPr>
          <a:xfrm>
            <a:off x="4953000" y="4432300"/>
            <a:ext cx="654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>
                <a:solidFill>
                  <a:srgbClr val="A8BACB"/>
                </a:solidFill>
                <a:latin typeface="Arial" panose="020B0604020202020204" pitchFamily="34" charset="0"/>
              </a:rPr>
              <a:t>Événements externes et signaux structurés</a:t>
            </a:r>
            <a:endParaRPr lang="en-US">
              <a:solidFill>
                <a:srgbClr val="A8BACB"/>
              </a:solidFill>
              <a:latin typeface="Arial" panose="020B0604020202020204" pitchFamily="34" charset="0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8A854B1-6DD5-5C07-D811-417680A939FD}"/>
              </a:ext>
            </a:extLst>
          </p:cNvPr>
          <p:cNvCxnSpPr/>
          <p:nvPr/>
        </p:nvCxnSpPr>
        <p:spPr>
          <a:xfrm>
            <a:off x="787400" y="5067300"/>
            <a:ext cx="10642600" cy="0"/>
          </a:xfrm>
          <a:prstGeom prst="line">
            <a:avLst/>
          </a:prstGeom>
          <a:ln w="12700">
            <a:solidFill>
              <a:srgbClr val="2B40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4A6399A-A060-AECE-FDA6-EAA2A08321D1}"/>
              </a:ext>
            </a:extLst>
          </p:cNvPr>
          <p:cNvSpPr txBox="1"/>
          <p:nvPr/>
        </p:nvSpPr>
        <p:spPr>
          <a:xfrm>
            <a:off x="787400" y="5308600"/>
            <a:ext cx="7112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E9A55E"/>
                </a:solidFill>
                <a:latin typeface="Arial" panose="020B0604020202020204" pitchFamily="34" charset="0"/>
              </a:rPr>
              <a:t>05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AC95BD4-FB3A-DD02-82E5-E969BF09A9F4}"/>
              </a:ext>
            </a:extLst>
          </p:cNvPr>
          <p:cNvSpPr txBox="1"/>
          <p:nvPr/>
        </p:nvSpPr>
        <p:spPr>
          <a:xfrm>
            <a:off x="1765300" y="5308600"/>
            <a:ext cx="28575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00" b="1">
                <a:solidFill>
                  <a:srgbClr val="EEF5FA"/>
                </a:solidFill>
                <a:latin typeface="Arial" panose="020B0604020202020204" pitchFamily="34" charset="0"/>
              </a:rPr>
              <a:t>Streamlit + GPO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1E389AF-2A43-FF7B-980F-DF21DE2C103A}"/>
              </a:ext>
            </a:extLst>
          </p:cNvPr>
          <p:cNvSpPr txBox="1"/>
          <p:nvPr/>
        </p:nvSpPr>
        <p:spPr>
          <a:xfrm>
            <a:off x="4953000" y="5308600"/>
            <a:ext cx="654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>
                <a:solidFill>
                  <a:srgbClr val="A8BACB"/>
                </a:solidFill>
                <a:latin typeface="Arial" panose="020B0604020202020204" pitchFamily="34" charset="0"/>
              </a:rPr>
              <a:t>Avant/après, impacts et décisions à examiner</a:t>
            </a:r>
            <a:endParaRPr lang="en-US">
              <a:solidFill>
                <a:srgbClr val="A8BACB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2815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7ADD59A-FCC0-8BF8-B7EC-C2F971236C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52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126BE7-50BE-F468-F18A-EE77FF67ECC0}"/>
              </a:ext>
            </a:extLst>
          </p:cNvPr>
          <p:cNvSpPr txBox="1"/>
          <p:nvPr/>
        </p:nvSpPr>
        <p:spPr>
          <a:xfrm>
            <a:off x="736600" y="533400"/>
            <a:ext cx="107188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200" b="1">
                <a:solidFill>
                  <a:srgbClr val="EEF5FA"/>
                </a:solidFill>
                <a:latin typeface="Arial" panose="020B0604020202020204" pitchFamily="34" charset="0"/>
              </a:rPr>
              <a:t>Approche IA : prévision mensuelle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1ED8564-730E-E493-D82F-E7E2B7EFE3B3}"/>
              </a:ext>
            </a:extLst>
          </p:cNvPr>
          <p:cNvCxnSpPr/>
          <p:nvPr/>
        </p:nvCxnSpPr>
        <p:spPr>
          <a:xfrm>
            <a:off x="736600" y="1422400"/>
            <a:ext cx="10718800" cy="0"/>
          </a:xfrm>
          <a:prstGeom prst="line">
            <a:avLst/>
          </a:prstGeom>
          <a:ln w="12700">
            <a:solidFill>
              <a:srgbClr val="2B40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4D662B8-6137-E422-916C-5C31A74D4E81}"/>
              </a:ext>
            </a:extLst>
          </p:cNvPr>
          <p:cNvSpPr txBox="1"/>
          <p:nvPr/>
        </p:nvSpPr>
        <p:spPr>
          <a:xfrm>
            <a:off x="736600" y="6527800"/>
            <a:ext cx="838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sv-SE" sz="1000">
                <a:solidFill>
                  <a:srgbClr val="A8BACB"/>
                </a:solidFill>
                <a:latin typeface="Arial" panose="020B0604020202020204" pitchFamily="34" charset="0"/>
              </a:rPr>
              <a:t>AI Budget Shock Radar · Prototype hackathon</a:t>
            </a:r>
            <a:endParaRPr lang="en-US" sz="1000">
              <a:solidFill>
                <a:srgbClr val="A8BACB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4D15D9-F7B9-DEB4-A295-8612302214CE}"/>
              </a:ext>
            </a:extLst>
          </p:cNvPr>
          <p:cNvSpPr txBox="1"/>
          <p:nvPr/>
        </p:nvSpPr>
        <p:spPr>
          <a:xfrm>
            <a:off x="10541000" y="6527800"/>
            <a:ext cx="914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000">
                <a:solidFill>
                  <a:srgbClr val="A8BACB"/>
                </a:solidFill>
                <a:latin typeface="Arial" panose="020B0604020202020204" pitchFamily="34" charset="0"/>
              </a:rPr>
              <a:t>06 / 12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42035C-9A7C-BAB0-25D9-8B1CFA2D22DE}"/>
              </a:ext>
            </a:extLst>
          </p:cNvPr>
          <p:cNvSpPr txBox="1"/>
          <p:nvPr/>
        </p:nvSpPr>
        <p:spPr>
          <a:xfrm>
            <a:off x="787400" y="1841500"/>
            <a:ext cx="10668000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2200">
                <a:solidFill>
                  <a:srgbClr val="EEF5FA"/>
                </a:solidFill>
                <a:latin typeface="Arial" panose="020B0604020202020204" pitchFamily="34" charset="0"/>
              </a:rPr>
              <a:t>Prophet est ajusté séparément sur chaque indicateur ayant au moins 18 observations et un historique surtout mensuel.</a:t>
            </a:r>
            <a:endParaRPr lang="en-US" sz="2200">
              <a:solidFill>
                <a:srgbClr val="EEF5FA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052EC1-E669-B6B1-9ABF-28FD66FA9C86}"/>
              </a:ext>
            </a:extLst>
          </p:cNvPr>
          <p:cNvSpPr txBox="1"/>
          <p:nvPr/>
        </p:nvSpPr>
        <p:spPr>
          <a:xfrm>
            <a:off x="787400" y="3365500"/>
            <a:ext cx="10541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2500" b="1">
                <a:solidFill>
                  <a:srgbClr val="46C8C0"/>
                </a:solidFill>
                <a:latin typeface="Arial" panose="020B0604020202020204" pitchFamily="34" charset="0"/>
              </a:rPr>
              <a:t>Prévision centrale = tendance + saisonnalité annuelle</a:t>
            </a:r>
            <a:endParaRPr lang="en-US" sz="2500" b="1">
              <a:solidFill>
                <a:srgbClr val="46C8C0"/>
              </a:solidFill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A7190D-B625-7389-5604-EB7B8C1EF53B}"/>
              </a:ext>
            </a:extLst>
          </p:cNvPr>
          <p:cNvSpPr txBox="1"/>
          <p:nvPr/>
        </p:nvSpPr>
        <p:spPr>
          <a:xfrm>
            <a:off x="787400" y="4546600"/>
            <a:ext cx="10541000" cy="5847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1900">
                <a:solidFill>
                  <a:srgbClr val="A8BACB"/>
                </a:solidFill>
                <a:latin typeface="Arial" panose="020B0604020202020204" pitchFamily="34" charset="0"/>
              </a:rPr>
              <a:t>Sortie : six valeurs mensuelles yhat et une bande dʼincertitude basse/haute. Le modèle ne reçoit pas directement les articles de presse.</a:t>
            </a:r>
            <a:endParaRPr lang="en-US" sz="1900">
              <a:solidFill>
                <a:srgbClr val="A8BACB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7888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7D92ACC-5344-FF36-D381-289C48C3965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52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2DEB59-42B8-A187-C6E9-BCBB11931CCA}"/>
              </a:ext>
            </a:extLst>
          </p:cNvPr>
          <p:cNvSpPr txBox="1"/>
          <p:nvPr/>
        </p:nvSpPr>
        <p:spPr>
          <a:xfrm>
            <a:off x="736600" y="533400"/>
            <a:ext cx="107188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200" b="1">
                <a:solidFill>
                  <a:srgbClr val="EEF5FA"/>
                </a:solidFill>
                <a:latin typeface="Arial" panose="020B0604020202020204" pitchFamily="34" charset="0"/>
              </a:rPr>
              <a:t>De lʼévénement au scénario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2EAD74B-8BA7-AEC0-9741-C949E24B2996}"/>
              </a:ext>
            </a:extLst>
          </p:cNvPr>
          <p:cNvCxnSpPr/>
          <p:nvPr/>
        </p:nvCxnSpPr>
        <p:spPr>
          <a:xfrm>
            <a:off x="736600" y="1422400"/>
            <a:ext cx="10718800" cy="0"/>
          </a:xfrm>
          <a:prstGeom prst="line">
            <a:avLst/>
          </a:prstGeom>
          <a:ln w="12700">
            <a:solidFill>
              <a:srgbClr val="2B40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4784210-C851-E3C8-03E4-0F9E6DE4F09A}"/>
              </a:ext>
            </a:extLst>
          </p:cNvPr>
          <p:cNvSpPr txBox="1"/>
          <p:nvPr/>
        </p:nvSpPr>
        <p:spPr>
          <a:xfrm>
            <a:off x="736600" y="6527800"/>
            <a:ext cx="838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sv-SE" sz="1000">
                <a:solidFill>
                  <a:srgbClr val="A8BACB"/>
                </a:solidFill>
                <a:latin typeface="Arial" panose="020B0604020202020204" pitchFamily="34" charset="0"/>
              </a:rPr>
              <a:t>AI Budget Shock Radar · Prototype hackathon</a:t>
            </a:r>
            <a:endParaRPr lang="en-US" sz="1000">
              <a:solidFill>
                <a:srgbClr val="A8BACB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5CE33A-2EF3-2B92-A96F-AD1D10C49809}"/>
              </a:ext>
            </a:extLst>
          </p:cNvPr>
          <p:cNvSpPr txBox="1"/>
          <p:nvPr/>
        </p:nvSpPr>
        <p:spPr>
          <a:xfrm>
            <a:off x="10541000" y="6527800"/>
            <a:ext cx="914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000">
                <a:solidFill>
                  <a:srgbClr val="A8BACB"/>
                </a:solidFill>
                <a:latin typeface="Arial" panose="020B0604020202020204" pitchFamily="34" charset="0"/>
              </a:rPr>
              <a:t>07 / 12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442D33-1DBB-B772-050B-1E6CEFF682CC}"/>
              </a:ext>
            </a:extLst>
          </p:cNvPr>
          <p:cNvSpPr txBox="1"/>
          <p:nvPr/>
        </p:nvSpPr>
        <p:spPr>
          <a:xfrm>
            <a:off x="787400" y="1816100"/>
            <a:ext cx="106045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2100">
                <a:solidFill>
                  <a:srgbClr val="EEF5FA"/>
                </a:solidFill>
                <a:latin typeface="Arial" panose="020B0604020202020204" pitchFamily="34" charset="0"/>
              </a:rPr>
              <a:t>Gemini conserve un événement externe étayé, puis décrit le sens, lʼintensité, le début et la durée du signal.</a:t>
            </a:r>
            <a:endParaRPr lang="en-US" sz="2100">
              <a:solidFill>
                <a:srgbClr val="EEF5FA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B2060D-C3EB-C4E7-AC26-7E61B84EFF45}"/>
              </a:ext>
            </a:extLst>
          </p:cNvPr>
          <p:cNvSpPr txBox="1"/>
          <p:nvPr/>
        </p:nvSpPr>
        <p:spPr>
          <a:xfrm>
            <a:off x="787400" y="3124200"/>
            <a:ext cx="7239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1900" b="1">
                <a:solidFill>
                  <a:srgbClr val="46C8C0"/>
                </a:solidFill>
                <a:latin typeface="Arial" panose="020B0604020202020204" pitchFamily="34" charset="0"/>
              </a:rPr>
              <a:t>Exemple : Brent, signal « fort », trois mois</a:t>
            </a:r>
            <a:endParaRPr lang="en-US" sz="1900" b="1">
              <a:solidFill>
                <a:srgbClr val="46C8C0"/>
              </a:solidFill>
              <a:latin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5A791BD-97D0-EE99-5182-6AE4769A0517}"/>
              </a:ext>
            </a:extLst>
          </p:cNvPr>
          <p:cNvSpPr/>
          <p:nvPr/>
        </p:nvSpPr>
        <p:spPr>
          <a:xfrm>
            <a:off x="1587500" y="4216400"/>
            <a:ext cx="2032000" cy="431800"/>
          </a:xfrm>
          <a:prstGeom prst="rect">
            <a:avLst/>
          </a:prstGeom>
          <a:solidFill>
            <a:srgbClr val="E9A5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C36708-EAE6-842F-16AF-1D3208E10158}"/>
              </a:ext>
            </a:extLst>
          </p:cNvPr>
          <p:cNvSpPr txBox="1"/>
          <p:nvPr/>
        </p:nvSpPr>
        <p:spPr>
          <a:xfrm>
            <a:off x="3746500" y="42037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EEF5FA"/>
                </a:solidFill>
                <a:latin typeface="Arial" panose="020B0604020202020204" pitchFamily="34" charset="0"/>
              </a:rPr>
              <a:t>+8,0 %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8BC035-C931-92BF-4075-D80B0D89AFFE}"/>
              </a:ext>
            </a:extLst>
          </p:cNvPr>
          <p:cNvSpPr txBox="1"/>
          <p:nvPr/>
        </p:nvSpPr>
        <p:spPr>
          <a:xfrm>
            <a:off x="1587500" y="4851400"/>
            <a:ext cx="1587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>
                <a:solidFill>
                  <a:srgbClr val="A8BACB"/>
                </a:solidFill>
                <a:latin typeface="Arial" panose="020B0604020202020204" pitchFamily="34" charset="0"/>
              </a:rPr>
              <a:t>Mois 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2601522-CBBF-EEF4-1F57-8C85F9B272D2}"/>
              </a:ext>
            </a:extLst>
          </p:cNvPr>
          <p:cNvSpPr/>
          <p:nvPr/>
        </p:nvSpPr>
        <p:spPr>
          <a:xfrm>
            <a:off x="4762500" y="4216400"/>
            <a:ext cx="1727200" cy="431800"/>
          </a:xfrm>
          <a:prstGeom prst="rect">
            <a:avLst/>
          </a:prstGeom>
          <a:solidFill>
            <a:srgbClr val="E9A5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431719-6D0E-5754-5E8E-EC52D37F6393}"/>
              </a:ext>
            </a:extLst>
          </p:cNvPr>
          <p:cNvSpPr txBox="1"/>
          <p:nvPr/>
        </p:nvSpPr>
        <p:spPr>
          <a:xfrm>
            <a:off x="6616700" y="42037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EEF5FA"/>
                </a:solidFill>
                <a:latin typeface="Arial" panose="020B0604020202020204" pitchFamily="34" charset="0"/>
              </a:rPr>
              <a:t>+6,8 %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9F2B67-C7E2-4ADE-9D0D-F37DB240BEA6}"/>
              </a:ext>
            </a:extLst>
          </p:cNvPr>
          <p:cNvSpPr txBox="1"/>
          <p:nvPr/>
        </p:nvSpPr>
        <p:spPr>
          <a:xfrm>
            <a:off x="4762500" y="4851400"/>
            <a:ext cx="1587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>
                <a:solidFill>
                  <a:srgbClr val="A8BACB"/>
                </a:solidFill>
                <a:latin typeface="Arial" panose="020B0604020202020204" pitchFamily="34" charset="0"/>
              </a:rPr>
              <a:t>Mois 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7C6A08-6660-7915-D275-AF7DBEAF863F}"/>
              </a:ext>
            </a:extLst>
          </p:cNvPr>
          <p:cNvSpPr/>
          <p:nvPr/>
        </p:nvSpPr>
        <p:spPr>
          <a:xfrm>
            <a:off x="7937500" y="4216400"/>
            <a:ext cx="1422400" cy="431800"/>
          </a:xfrm>
          <a:prstGeom prst="rect">
            <a:avLst/>
          </a:prstGeom>
          <a:solidFill>
            <a:srgbClr val="E9A5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699F9F-85B0-B2F4-0CED-0F9C29F18729}"/>
              </a:ext>
            </a:extLst>
          </p:cNvPr>
          <p:cNvSpPr txBox="1"/>
          <p:nvPr/>
        </p:nvSpPr>
        <p:spPr>
          <a:xfrm>
            <a:off x="9486900" y="42037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EEF5FA"/>
                </a:solidFill>
                <a:latin typeface="Arial" panose="020B0604020202020204" pitchFamily="34" charset="0"/>
              </a:rPr>
              <a:t>+5,6 %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85F3A7-D0BA-1EDF-33BE-37285A227D94}"/>
              </a:ext>
            </a:extLst>
          </p:cNvPr>
          <p:cNvSpPr txBox="1"/>
          <p:nvPr/>
        </p:nvSpPr>
        <p:spPr>
          <a:xfrm>
            <a:off x="7937500" y="4851400"/>
            <a:ext cx="1587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>
                <a:solidFill>
                  <a:srgbClr val="A8BACB"/>
                </a:solidFill>
                <a:latin typeface="Arial" panose="020B0604020202020204" pitchFamily="34" charset="0"/>
              </a:rPr>
              <a:t>Mois 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C0772E5-5620-9E76-BEA1-DA46D209AEEE}"/>
              </a:ext>
            </a:extLst>
          </p:cNvPr>
          <p:cNvSpPr txBox="1"/>
          <p:nvPr/>
        </p:nvSpPr>
        <p:spPr>
          <a:xfrm>
            <a:off x="787400" y="5715000"/>
            <a:ext cx="10604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1700">
                <a:solidFill>
                  <a:srgbClr val="A8BACB"/>
                </a:solidFill>
                <a:latin typeface="Arial" panose="020B0604020202020204" pitchFamily="34" charset="0"/>
              </a:rPr>
              <a:t>Les pourcentages sont des hypothèses fixes et plafonnées. Prophet nʼest pas réentraîné.</a:t>
            </a:r>
            <a:endParaRPr lang="en-US" sz="1700">
              <a:solidFill>
                <a:srgbClr val="A8BACB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6861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FAC507D-7C96-9899-6351-474D8BA2EB5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52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D61BBF-69E6-A0D9-670C-0FD4C6ACBE20}"/>
              </a:ext>
            </a:extLst>
          </p:cNvPr>
          <p:cNvSpPr txBox="1"/>
          <p:nvPr/>
        </p:nvSpPr>
        <p:spPr>
          <a:xfrm>
            <a:off x="736600" y="533400"/>
            <a:ext cx="107188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200" b="1">
                <a:solidFill>
                  <a:srgbClr val="EEF5FA"/>
                </a:solidFill>
                <a:latin typeface="Arial" panose="020B0604020202020204" pitchFamily="34" charset="0"/>
              </a:rPr>
              <a:t>Transmission au budget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97617D5-01ED-E281-C369-0934EF920659}"/>
              </a:ext>
            </a:extLst>
          </p:cNvPr>
          <p:cNvCxnSpPr/>
          <p:nvPr/>
        </p:nvCxnSpPr>
        <p:spPr>
          <a:xfrm>
            <a:off x="736600" y="1422400"/>
            <a:ext cx="10718800" cy="0"/>
          </a:xfrm>
          <a:prstGeom prst="line">
            <a:avLst/>
          </a:prstGeom>
          <a:ln w="12700">
            <a:solidFill>
              <a:srgbClr val="2B40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C007BAF-442D-64DB-4C96-686B02834EC5}"/>
              </a:ext>
            </a:extLst>
          </p:cNvPr>
          <p:cNvSpPr txBox="1"/>
          <p:nvPr/>
        </p:nvSpPr>
        <p:spPr>
          <a:xfrm>
            <a:off x="736600" y="6527800"/>
            <a:ext cx="838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sv-SE" sz="1000">
                <a:solidFill>
                  <a:srgbClr val="A8BACB"/>
                </a:solidFill>
                <a:latin typeface="Arial" panose="020B0604020202020204" pitchFamily="34" charset="0"/>
              </a:rPr>
              <a:t>AI Budget Shock Radar · Prototype hackathon</a:t>
            </a:r>
            <a:endParaRPr lang="en-US" sz="1000">
              <a:solidFill>
                <a:srgbClr val="A8BACB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5ADC7A-9312-AF3F-5A63-7725DF9C71ED}"/>
              </a:ext>
            </a:extLst>
          </p:cNvPr>
          <p:cNvSpPr txBox="1"/>
          <p:nvPr/>
        </p:nvSpPr>
        <p:spPr>
          <a:xfrm>
            <a:off x="10541000" y="6527800"/>
            <a:ext cx="914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000">
                <a:solidFill>
                  <a:srgbClr val="A8BACB"/>
                </a:solidFill>
                <a:latin typeface="Arial" panose="020B0604020202020204" pitchFamily="34" charset="0"/>
              </a:rPr>
              <a:t>08 / 12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8574BC-C214-CAC5-BCE9-D07E35D25BC9}"/>
              </a:ext>
            </a:extLst>
          </p:cNvPr>
          <p:cNvSpPr txBox="1"/>
          <p:nvPr/>
        </p:nvSpPr>
        <p:spPr>
          <a:xfrm>
            <a:off x="787400" y="1943100"/>
            <a:ext cx="106172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2700" b="1">
                <a:solidFill>
                  <a:srgbClr val="46C8C0"/>
                </a:solidFill>
                <a:latin typeface="Arial" panose="020B0604020202020204" pitchFamily="34" charset="0"/>
              </a:rPr>
              <a:t>Impact relatif = somme des élasticités × variations des indicateurs</a:t>
            </a:r>
            <a:endParaRPr lang="en-US" sz="2700" b="1">
              <a:solidFill>
                <a:srgbClr val="46C8C0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D1F72A-A7F7-9EF1-76EA-1DE318297D7E}"/>
              </a:ext>
            </a:extLst>
          </p:cNvPr>
          <p:cNvSpPr txBox="1"/>
          <p:nvPr/>
        </p:nvSpPr>
        <p:spPr>
          <a:xfrm>
            <a:off x="787400" y="3289300"/>
            <a:ext cx="106172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2000">
                <a:solidFill>
                  <a:srgbClr val="EEF5FA"/>
                </a:solidFill>
                <a:latin typeface="Arial" panose="020B0604020202020204" pitchFamily="34" charset="0"/>
              </a:rPr>
              <a:t>Exemple illustratif : une hausse du Brent de 10 % et un taux USD/TND inchangé</a:t>
            </a:r>
            <a:endParaRPr lang="en-US" sz="2000">
              <a:solidFill>
                <a:srgbClr val="EEF5FA"/>
              </a:solidFill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AE9FA7-2A09-D0DD-6E4A-F3B91424C2C7}"/>
              </a:ext>
            </a:extLst>
          </p:cNvPr>
          <p:cNvSpPr txBox="1"/>
          <p:nvPr/>
        </p:nvSpPr>
        <p:spPr>
          <a:xfrm>
            <a:off x="787400" y="4203700"/>
            <a:ext cx="106172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2300" b="1">
                <a:solidFill>
                  <a:srgbClr val="EEF5FA"/>
                </a:solidFill>
                <a:latin typeface="Arial" panose="020B0604020202020204" pitchFamily="34" charset="0"/>
              </a:rPr>
              <a:t>Subventions carburants : 0,85 × 10 % = +8,5 %</a:t>
            </a:r>
            <a:endParaRPr lang="en-US" sz="2300" b="1">
              <a:solidFill>
                <a:srgbClr val="EEF5FA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FE32CB-F47D-0D04-BD3F-5E422F686E2D}"/>
              </a:ext>
            </a:extLst>
          </p:cNvPr>
          <p:cNvSpPr txBox="1"/>
          <p:nvPr/>
        </p:nvSpPr>
        <p:spPr>
          <a:xfrm>
            <a:off x="787400" y="5041900"/>
            <a:ext cx="106172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2300" b="1">
                <a:solidFill>
                  <a:srgbClr val="E9A55E"/>
                </a:solidFill>
                <a:latin typeface="Arial" panose="020B0604020202020204" pitchFamily="34" charset="0"/>
              </a:rPr>
              <a:t>Référence de 8 000 MTND : impact estimé de +680 MTND</a:t>
            </a:r>
            <a:endParaRPr lang="en-US" sz="2300" b="1">
              <a:solidFill>
                <a:srgbClr val="E9A55E"/>
              </a:solidFill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52A6F2-C5E8-C3C1-66A0-7C9B45A5F96A}"/>
              </a:ext>
            </a:extLst>
          </p:cNvPr>
          <p:cNvSpPr txBox="1"/>
          <p:nvPr/>
        </p:nvSpPr>
        <p:spPr>
          <a:xfrm>
            <a:off x="787400" y="6019800"/>
            <a:ext cx="10604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1500">
                <a:solidFill>
                  <a:srgbClr val="A8BACB"/>
                </a:solidFill>
                <a:latin typeface="Arial" panose="020B0604020202020204" pitchFamily="34" charset="0"/>
              </a:rPr>
              <a:t>Référence et coefficients du prototype : hypothèses, non données budgétaires officielles.</a:t>
            </a:r>
            <a:endParaRPr lang="en-US" sz="1500">
              <a:solidFill>
                <a:srgbClr val="A8BACB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2834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034ED16-CCAC-A0D1-BD75-BB1FF5CDDE9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52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BB6F80-26D0-4840-5886-CEF1C1EB390A}"/>
              </a:ext>
            </a:extLst>
          </p:cNvPr>
          <p:cNvSpPr txBox="1"/>
          <p:nvPr/>
        </p:nvSpPr>
        <p:spPr>
          <a:xfrm>
            <a:off x="736600" y="533400"/>
            <a:ext cx="107188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200" b="1">
                <a:solidFill>
                  <a:srgbClr val="EEF5FA"/>
                </a:solidFill>
                <a:latin typeface="Arial" panose="020B0604020202020204" pitchFamily="34" charset="0"/>
              </a:rPr>
              <a:t>Prototype Streamlit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BD76754-CA20-1D91-5F36-700E9830AA42}"/>
              </a:ext>
            </a:extLst>
          </p:cNvPr>
          <p:cNvCxnSpPr/>
          <p:nvPr/>
        </p:nvCxnSpPr>
        <p:spPr>
          <a:xfrm>
            <a:off x="736600" y="1422400"/>
            <a:ext cx="10718800" cy="0"/>
          </a:xfrm>
          <a:prstGeom prst="line">
            <a:avLst/>
          </a:prstGeom>
          <a:ln w="12700">
            <a:solidFill>
              <a:srgbClr val="2B40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303933D-B785-A1D2-74FC-437655089D41}"/>
              </a:ext>
            </a:extLst>
          </p:cNvPr>
          <p:cNvSpPr txBox="1"/>
          <p:nvPr/>
        </p:nvSpPr>
        <p:spPr>
          <a:xfrm>
            <a:off x="736600" y="6527800"/>
            <a:ext cx="838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sv-SE" sz="1000">
                <a:solidFill>
                  <a:srgbClr val="A8BACB"/>
                </a:solidFill>
                <a:latin typeface="Arial" panose="020B0604020202020204" pitchFamily="34" charset="0"/>
              </a:rPr>
              <a:t>AI Budget Shock Radar · Prototype hackathon</a:t>
            </a:r>
            <a:endParaRPr lang="en-US" sz="1000">
              <a:solidFill>
                <a:srgbClr val="A8BACB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BEBDCF-CDCD-A073-CF4D-EA62F8A2354B}"/>
              </a:ext>
            </a:extLst>
          </p:cNvPr>
          <p:cNvSpPr txBox="1"/>
          <p:nvPr/>
        </p:nvSpPr>
        <p:spPr>
          <a:xfrm>
            <a:off x="10541000" y="6527800"/>
            <a:ext cx="914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000">
                <a:solidFill>
                  <a:srgbClr val="A8BACB"/>
                </a:solidFill>
                <a:latin typeface="Arial" panose="020B0604020202020204" pitchFamily="34" charset="0"/>
              </a:rPr>
              <a:t>09 / 12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C8FE3E0-B83D-252B-8D46-0870173F6DD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3400" y="1587500"/>
            <a:ext cx="8585200" cy="482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2402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F71E25C-65C0-070E-6126-73C029FFBAD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52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319DB2-A8F1-916D-F7C3-78E508A456FD}"/>
              </a:ext>
            </a:extLst>
          </p:cNvPr>
          <p:cNvSpPr txBox="1"/>
          <p:nvPr/>
        </p:nvSpPr>
        <p:spPr>
          <a:xfrm>
            <a:off x="736600" y="533400"/>
            <a:ext cx="107188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200" b="1">
                <a:solidFill>
                  <a:srgbClr val="EEF5FA"/>
                </a:solidFill>
                <a:latin typeface="Arial" panose="020B0604020202020204" pitchFamily="34" charset="0"/>
              </a:rPr>
              <a:t>Résultat de la démonstration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1FFCEB-40FA-CDD5-3D27-739D96BC02F5}"/>
              </a:ext>
            </a:extLst>
          </p:cNvPr>
          <p:cNvCxnSpPr/>
          <p:nvPr/>
        </p:nvCxnSpPr>
        <p:spPr>
          <a:xfrm>
            <a:off x="736600" y="1422400"/>
            <a:ext cx="10718800" cy="0"/>
          </a:xfrm>
          <a:prstGeom prst="line">
            <a:avLst/>
          </a:prstGeom>
          <a:ln w="12700">
            <a:solidFill>
              <a:srgbClr val="2B40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1D50EE0-A3F1-77FB-1278-D441B3E42BFD}"/>
              </a:ext>
            </a:extLst>
          </p:cNvPr>
          <p:cNvSpPr txBox="1"/>
          <p:nvPr/>
        </p:nvSpPr>
        <p:spPr>
          <a:xfrm>
            <a:off x="736600" y="6527800"/>
            <a:ext cx="838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sv-SE" sz="1000">
                <a:solidFill>
                  <a:srgbClr val="A8BACB"/>
                </a:solidFill>
                <a:latin typeface="Arial" panose="020B0604020202020204" pitchFamily="34" charset="0"/>
              </a:rPr>
              <a:t>AI Budget Shock Radar · Prototype hackathon</a:t>
            </a:r>
            <a:endParaRPr lang="en-US" sz="1000">
              <a:solidFill>
                <a:srgbClr val="A8BACB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8CC560-630B-6115-0DDE-4D40405384AF}"/>
              </a:ext>
            </a:extLst>
          </p:cNvPr>
          <p:cNvSpPr txBox="1"/>
          <p:nvPr/>
        </p:nvSpPr>
        <p:spPr>
          <a:xfrm>
            <a:off x="10541000" y="6527800"/>
            <a:ext cx="914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000">
                <a:solidFill>
                  <a:srgbClr val="A8BACB"/>
                </a:solidFill>
                <a:latin typeface="Arial" panose="020B0604020202020204" pitchFamily="34" charset="0"/>
              </a:rPr>
              <a:t>10 / 12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CCA863-C69D-FB22-CFDB-9E8AD6B60156}"/>
              </a:ext>
            </a:extLst>
          </p:cNvPr>
          <p:cNvSpPr txBox="1"/>
          <p:nvPr/>
        </p:nvSpPr>
        <p:spPr>
          <a:xfrm>
            <a:off x="787400" y="2019300"/>
            <a:ext cx="2921000" cy="7540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4900" b="1">
                <a:solidFill>
                  <a:srgbClr val="46C8C0"/>
                </a:solidFill>
                <a:latin typeface="Arial" panose="020B0604020202020204" pitchFamily="34" charset="0"/>
              </a:rPr>
              <a:t>46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9995D5-1346-4E68-C841-4AFBDB467914}"/>
              </a:ext>
            </a:extLst>
          </p:cNvPr>
          <p:cNvSpPr txBox="1"/>
          <p:nvPr/>
        </p:nvSpPr>
        <p:spPr>
          <a:xfrm>
            <a:off x="787400" y="2946400"/>
            <a:ext cx="28575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>
                <a:solidFill>
                  <a:srgbClr val="A8BACB"/>
                </a:solidFill>
                <a:latin typeface="Arial" panose="020B0604020202020204" pitchFamily="34" charset="0"/>
              </a:rPr>
              <a:t>articles examinés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6E06F8-3F38-4FA8-B07D-61EF5EA57663}"/>
              </a:ext>
            </a:extLst>
          </p:cNvPr>
          <p:cNvSpPr txBox="1"/>
          <p:nvPr/>
        </p:nvSpPr>
        <p:spPr>
          <a:xfrm>
            <a:off x="4470400" y="2019300"/>
            <a:ext cx="2921000" cy="7540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4900" b="1">
                <a:solidFill>
                  <a:srgbClr val="46C8C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6EF8C3-53D3-1882-0FF6-B7C21C977831}"/>
              </a:ext>
            </a:extLst>
          </p:cNvPr>
          <p:cNvSpPr txBox="1"/>
          <p:nvPr/>
        </p:nvSpPr>
        <p:spPr>
          <a:xfrm>
            <a:off x="4470400" y="2946400"/>
            <a:ext cx="28575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>
                <a:solidFill>
                  <a:srgbClr val="A8BACB"/>
                </a:solidFill>
                <a:latin typeface="Arial" panose="020B0604020202020204" pitchFamily="34" charset="0"/>
              </a:rPr>
              <a:t>événement retenu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8C776C-B996-9975-691F-906E2C8B90CF}"/>
              </a:ext>
            </a:extLst>
          </p:cNvPr>
          <p:cNvSpPr txBox="1"/>
          <p:nvPr/>
        </p:nvSpPr>
        <p:spPr>
          <a:xfrm>
            <a:off x="8102600" y="2019300"/>
            <a:ext cx="33020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4500" b="1">
                <a:solidFill>
                  <a:srgbClr val="E9A55E"/>
                </a:solidFill>
                <a:latin typeface="Arial" panose="020B0604020202020204" pitchFamily="34" charset="0"/>
              </a:rPr>
              <a:t>+150,7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820D78-5BDF-375E-91AE-734F3468F9F4}"/>
              </a:ext>
            </a:extLst>
          </p:cNvPr>
          <p:cNvSpPr txBox="1"/>
          <p:nvPr/>
        </p:nvSpPr>
        <p:spPr>
          <a:xfrm>
            <a:off x="8102600" y="2946400"/>
            <a:ext cx="3302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>
                <a:solidFill>
                  <a:srgbClr val="A8BACB"/>
                </a:solidFill>
                <a:latin typeface="Arial" panose="020B0604020202020204" pitchFamily="34" charset="0"/>
              </a:rPr>
              <a:t>MTND dʼeffet simulé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5F3134-294C-0034-714F-7ABFD0EB3A87}"/>
              </a:ext>
            </a:extLst>
          </p:cNvPr>
          <p:cNvSpPr txBox="1"/>
          <p:nvPr/>
        </p:nvSpPr>
        <p:spPr>
          <a:xfrm>
            <a:off x="787400" y="4089400"/>
            <a:ext cx="10414000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2200">
                <a:solidFill>
                  <a:srgbClr val="EEF5FA"/>
                </a:solidFill>
                <a:latin typeface="Arial" panose="020B0604020202020204" pitchFamily="34" charset="0"/>
              </a:rPr>
              <a:t>Subventions aux carburants : dépense indicative de 5 765,9 à 5 916,6 MTND après prise en compte des actualités.</a:t>
            </a:r>
            <a:endParaRPr lang="en-US" sz="2200">
              <a:solidFill>
                <a:srgbClr val="EEF5FA"/>
              </a:solidFill>
              <a:latin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190297-50D7-F19E-E605-AE860386F5D3}"/>
              </a:ext>
            </a:extLst>
          </p:cNvPr>
          <p:cNvSpPr txBox="1"/>
          <p:nvPr/>
        </p:nvSpPr>
        <p:spPr>
          <a:xfrm>
            <a:off x="787400" y="5753100"/>
            <a:ext cx="10604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1600">
                <a:solidFill>
                  <a:srgbClr val="A8BACB"/>
                </a:solidFill>
                <a:latin typeface="Arial" panose="020B0604020202020204" pitchFamily="34" charset="0"/>
              </a:rPr>
              <a:t>Exécution locale du 26/09/2026. Ce résultat est un scénario indicatif, pas une dépense observée.</a:t>
            </a:r>
            <a:endParaRPr lang="en-US" sz="1600">
              <a:solidFill>
                <a:srgbClr val="A8BACB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1440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A751D82-6529-4178-6419-44E24B8D81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52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C7FAD3-FBAE-D9FD-7C6E-D5E40FF47A9E}"/>
              </a:ext>
            </a:extLst>
          </p:cNvPr>
          <p:cNvSpPr txBox="1"/>
          <p:nvPr/>
        </p:nvSpPr>
        <p:spPr>
          <a:xfrm>
            <a:off x="736600" y="533400"/>
            <a:ext cx="107188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200" b="1">
                <a:solidFill>
                  <a:srgbClr val="EEF5FA"/>
                </a:solidFill>
                <a:latin typeface="Arial" panose="020B0604020202020204" pitchFamily="34" charset="0"/>
              </a:rPr>
              <a:t>Impact attendu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AB10C51-F1FD-3BC3-DFFE-8646C8614DD8}"/>
              </a:ext>
            </a:extLst>
          </p:cNvPr>
          <p:cNvCxnSpPr/>
          <p:nvPr/>
        </p:nvCxnSpPr>
        <p:spPr>
          <a:xfrm>
            <a:off x="736600" y="1422400"/>
            <a:ext cx="10718800" cy="0"/>
          </a:xfrm>
          <a:prstGeom prst="line">
            <a:avLst/>
          </a:prstGeom>
          <a:ln w="12700">
            <a:solidFill>
              <a:srgbClr val="2B40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A5017DF-5C66-DC81-A1BB-799503BAFD47}"/>
              </a:ext>
            </a:extLst>
          </p:cNvPr>
          <p:cNvSpPr txBox="1"/>
          <p:nvPr/>
        </p:nvSpPr>
        <p:spPr>
          <a:xfrm>
            <a:off x="736600" y="6527800"/>
            <a:ext cx="838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sv-SE" sz="1000">
                <a:solidFill>
                  <a:srgbClr val="A8BACB"/>
                </a:solidFill>
                <a:latin typeface="Arial" panose="020B0604020202020204" pitchFamily="34" charset="0"/>
              </a:rPr>
              <a:t>AI Budget Shock Radar · Prototype hackathon</a:t>
            </a:r>
            <a:endParaRPr lang="en-US" sz="1000">
              <a:solidFill>
                <a:srgbClr val="A8BACB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67CC6F-79F1-4E95-8E65-BFB78AA80EAD}"/>
              </a:ext>
            </a:extLst>
          </p:cNvPr>
          <p:cNvSpPr txBox="1"/>
          <p:nvPr/>
        </p:nvSpPr>
        <p:spPr>
          <a:xfrm>
            <a:off x="10541000" y="6527800"/>
            <a:ext cx="914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000">
                <a:solidFill>
                  <a:srgbClr val="A8BACB"/>
                </a:solidFill>
                <a:latin typeface="Arial" panose="020B0604020202020204" pitchFamily="34" charset="0"/>
              </a:rPr>
              <a:t>11 / 12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6FDDF6-12E1-C903-1CB3-C42C2DD49165}"/>
              </a:ext>
            </a:extLst>
          </p:cNvPr>
          <p:cNvSpPr txBox="1"/>
          <p:nvPr/>
        </p:nvSpPr>
        <p:spPr>
          <a:xfrm>
            <a:off x="787400" y="1943100"/>
            <a:ext cx="104775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2300" b="1">
                <a:solidFill>
                  <a:srgbClr val="EEF5FA"/>
                </a:solidFill>
                <a:latin typeface="Arial" panose="020B0604020202020204" pitchFamily="34" charset="0"/>
              </a:rPr>
              <a:t>Une veille qui suit les indicateurs déjà prévus</a:t>
            </a:r>
            <a:endParaRPr lang="en-US" sz="2300" b="1">
              <a:solidFill>
                <a:srgbClr val="EEF5FA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8D82F4-AC61-5174-0A55-3F6EF6BD0D87}"/>
              </a:ext>
            </a:extLst>
          </p:cNvPr>
          <p:cNvSpPr txBox="1"/>
          <p:nvPr/>
        </p:nvSpPr>
        <p:spPr>
          <a:xfrm>
            <a:off x="787400" y="2628900"/>
            <a:ext cx="10477500" cy="5847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1900">
                <a:solidFill>
                  <a:srgbClr val="A8BACB"/>
                </a:solidFill>
                <a:latin typeface="Arial" panose="020B0604020202020204" pitchFamily="34" charset="0"/>
              </a:rPr>
              <a:t>Le même événement apparaît dans la courbe après actualités et dans son effet budgétaire estimé.</a:t>
            </a:r>
            <a:endParaRPr lang="en-US" sz="1900">
              <a:solidFill>
                <a:srgbClr val="A8BACB"/>
              </a:solidFill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DE20B5-6489-704A-E4E6-074B512FC7B5}"/>
              </a:ext>
            </a:extLst>
          </p:cNvPr>
          <p:cNvSpPr txBox="1"/>
          <p:nvPr/>
        </p:nvSpPr>
        <p:spPr>
          <a:xfrm>
            <a:off x="787400" y="3949700"/>
            <a:ext cx="104775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300" b="1">
                <a:solidFill>
                  <a:srgbClr val="EEF5FA"/>
                </a:solidFill>
                <a:latin typeface="Arial" panose="020B0604020202020204" pitchFamily="34" charset="0"/>
              </a:rPr>
              <a:t>Une lecture budgétaire explicable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AD0D00-2ED0-79C2-65B9-9BE3EC85885D}"/>
              </a:ext>
            </a:extLst>
          </p:cNvPr>
          <p:cNvSpPr txBox="1"/>
          <p:nvPr/>
        </p:nvSpPr>
        <p:spPr>
          <a:xfrm>
            <a:off x="787400" y="4635500"/>
            <a:ext cx="10477500" cy="5847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1900">
                <a:solidFill>
                  <a:srgbClr val="A8BACB"/>
                </a:solidFill>
                <a:latin typeface="Arial" panose="020B0604020202020204" pitchFamily="34" charset="0"/>
              </a:rPr>
              <a:t>Chaque variation renvoie à un signal, un coefficient supposé et une catégorie concernée. Les décisions restent à valider par les responsables.</a:t>
            </a:r>
            <a:endParaRPr lang="en-US" sz="1900">
              <a:solidFill>
                <a:srgbClr val="A8BACB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77339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FB620F7-EA22-8166-3D5E-1AB320DDCAD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52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597AA3-60CA-551A-27CF-D8125B483561}"/>
              </a:ext>
            </a:extLst>
          </p:cNvPr>
          <p:cNvSpPr txBox="1"/>
          <p:nvPr/>
        </p:nvSpPr>
        <p:spPr>
          <a:xfrm>
            <a:off x="736600" y="533400"/>
            <a:ext cx="107188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3200" b="1">
                <a:solidFill>
                  <a:srgbClr val="EEF5FA"/>
                </a:solidFill>
                <a:latin typeface="Arial" panose="020B0604020202020204" pitchFamily="34" charset="0"/>
              </a:rPr>
              <a:t>Limites et mise en production</a:t>
            </a:r>
            <a:endParaRPr lang="en-US" sz="3200" b="1">
              <a:solidFill>
                <a:srgbClr val="EEF5FA"/>
              </a:solidFill>
              <a:latin typeface="Arial" panose="020B060402020202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82AE257-745E-C5A0-6330-795C61BF6729}"/>
              </a:ext>
            </a:extLst>
          </p:cNvPr>
          <p:cNvCxnSpPr/>
          <p:nvPr/>
        </p:nvCxnSpPr>
        <p:spPr>
          <a:xfrm>
            <a:off x="736600" y="1422400"/>
            <a:ext cx="10718800" cy="0"/>
          </a:xfrm>
          <a:prstGeom prst="line">
            <a:avLst/>
          </a:prstGeom>
          <a:ln w="12700">
            <a:solidFill>
              <a:srgbClr val="2B40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7474302-C7D9-23FE-9680-8BEE6C0B8808}"/>
              </a:ext>
            </a:extLst>
          </p:cNvPr>
          <p:cNvSpPr txBox="1"/>
          <p:nvPr/>
        </p:nvSpPr>
        <p:spPr>
          <a:xfrm>
            <a:off x="736600" y="6527800"/>
            <a:ext cx="838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sv-SE" sz="1000">
                <a:solidFill>
                  <a:srgbClr val="A8BACB"/>
                </a:solidFill>
                <a:latin typeface="Arial" panose="020B0604020202020204" pitchFamily="34" charset="0"/>
              </a:rPr>
              <a:t>AI Budget Shock Radar · Prototype hackathon</a:t>
            </a:r>
            <a:endParaRPr lang="en-US" sz="1000">
              <a:solidFill>
                <a:srgbClr val="A8BACB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95B246-8451-42F8-C31A-6E26E1216F7E}"/>
              </a:ext>
            </a:extLst>
          </p:cNvPr>
          <p:cNvSpPr txBox="1"/>
          <p:nvPr/>
        </p:nvSpPr>
        <p:spPr>
          <a:xfrm>
            <a:off x="10541000" y="6527800"/>
            <a:ext cx="914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000">
                <a:solidFill>
                  <a:srgbClr val="A8BACB"/>
                </a:solidFill>
                <a:latin typeface="Arial" panose="020B0604020202020204" pitchFamily="34" charset="0"/>
              </a:rPr>
              <a:t>12 / 12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289557-47B0-9D0E-1B17-498DE7DB1E45}"/>
              </a:ext>
            </a:extLst>
          </p:cNvPr>
          <p:cNvSpPr txBox="1"/>
          <p:nvPr/>
        </p:nvSpPr>
        <p:spPr>
          <a:xfrm>
            <a:off x="787400" y="1917700"/>
            <a:ext cx="4699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E9A55E"/>
                </a:solidFill>
                <a:latin typeface="Arial" panose="020B0604020202020204" pitchFamily="34" charset="0"/>
              </a:rPr>
              <a:t>Limites actuelles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C7C3B0-0AA5-0AFD-5E2C-BCB33F81A161}"/>
              </a:ext>
            </a:extLst>
          </p:cNvPr>
          <p:cNvSpPr txBox="1"/>
          <p:nvPr/>
        </p:nvSpPr>
        <p:spPr>
          <a:xfrm>
            <a:off x="787400" y="2730500"/>
            <a:ext cx="4572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>
                <a:solidFill>
                  <a:srgbClr val="EEF5FA"/>
                </a:solidFill>
                <a:latin typeface="Arial" panose="020B0604020202020204" pitchFamily="34" charset="0"/>
              </a:rPr>
              <a:t>Budget mensuel synthétique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6F0893-05D1-EE59-6486-65BE7E75A50C}"/>
              </a:ext>
            </a:extLst>
          </p:cNvPr>
          <p:cNvSpPr txBox="1"/>
          <p:nvPr/>
        </p:nvSpPr>
        <p:spPr>
          <a:xfrm>
            <a:off x="787400" y="3441700"/>
            <a:ext cx="4572000" cy="5847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1900">
                <a:solidFill>
                  <a:srgbClr val="EEF5FA"/>
                </a:solidFill>
                <a:latin typeface="Arial" panose="020B0604020202020204" pitchFamily="34" charset="0"/>
              </a:rPr>
              <a:t>Élasticités non estimées sur données réelles</a:t>
            </a:r>
            <a:endParaRPr lang="en-US" sz="1900">
              <a:solidFill>
                <a:srgbClr val="EEF5FA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9726D6-E77A-C1E5-0538-65C13DF730DA}"/>
              </a:ext>
            </a:extLst>
          </p:cNvPr>
          <p:cNvSpPr txBox="1"/>
          <p:nvPr/>
        </p:nvSpPr>
        <p:spPr>
          <a:xfrm>
            <a:off x="787400" y="4368800"/>
            <a:ext cx="4572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1900">
                <a:solidFill>
                  <a:srgbClr val="EEF5FA"/>
                </a:solidFill>
                <a:latin typeface="Arial" panose="020B0604020202020204" pitchFamily="34" charset="0"/>
              </a:rPr>
              <a:t>CPI sans série mensuelle exploitable</a:t>
            </a:r>
            <a:endParaRPr lang="en-US" sz="1900">
              <a:solidFill>
                <a:srgbClr val="EEF5FA"/>
              </a:solidFill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BE6991-B2EF-0407-F8B8-7A62EF69F4D9}"/>
              </a:ext>
            </a:extLst>
          </p:cNvPr>
          <p:cNvSpPr txBox="1"/>
          <p:nvPr/>
        </p:nvSpPr>
        <p:spPr>
          <a:xfrm>
            <a:off x="787400" y="5308600"/>
            <a:ext cx="4572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1900">
                <a:solidFill>
                  <a:srgbClr val="EEF5FA"/>
                </a:solidFill>
                <a:latin typeface="Arial" panose="020B0604020202020204" pitchFamily="34" charset="0"/>
              </a:rPr>
              <a:t>Pas de validation hors échantillon</a:t>
            </a:r>
            <a:endParaRPr lang="en-US" sz="1900">
              <a:solidFill>
                <a:srgbClr val="EEF5FA"/>
              </a:solidFill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AA5266-5EF5-4D99-B37A-01EE85409FAD}"/>
              </a:ext>
            </a:extLst>
          </p:cNvPr>
          <p:cNvSpPr txBox="1"/>
          <p:nvPr/>
        </p:nvSpPr>
        <p:spPr>
          <a:xfrm>
            <a:off x="6502400" y="1917700"/>
            <a:ext cx="49022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46C8C0"/>
                </a:solidFill>
                <a:latin typeface="Arial" panose="020B0604020202020204" pitchFamily="34" charset="0"/>
              </a:rPr>
              <a:t>Priorités de production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757B38-2910-43E3-D3CC-E9692474CE4C}"/>
              </a:ext>
            </a:extLst>
          </p:cNvPr>
          <p:cNvSpPr txBox="1"/>
          <p:nvPr/>
        </p:nvSpPr>
        <p:spPr>
          <a:xfrm>
            <a:off x="6502400" y="2730500"/>
            <a:ext cx="48895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>
                <a:solidFill>
                  <a:srgbClr val="EEF5FA"/>
                </a:solidFill>
                <a:latin typeface="Arial" panose="020B0604020202020204" pitchFamily="34" charset="0"/>
              </a:rPr>
              <a:t>Intégrer lʼexécution budgétaire officielle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A0A5A4-5812-3BE8-FE54-C0ABD018712F}"/>
              </a:ext>
            </a:extLst>
          </p:cNvPr>
          <p:cNvSpPr txBox="1"/>
          <p:nvPr/>
        </p:nvSpPr>
        <p:spPr>
          <a:xfrm>
            <a:off x="6502400" y="3657600"/>
            <a:ext cx="48895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1900">
                <a:solidFill>
                  <a:srgbClr val="EEF5FA"/>
                </a:solidFill>
                <a:latin typeface="Arial" panose="020B0604020202020204" pitchFamily="34" charset="0"/>
              </a:rPr>
              <a:t>Calibrer les coefficients avec des experts</a:t>
            </a:r>
            <a:endParaRPr lang="en-US" sz="1900">
              <a:solidFill>
                <a:srgbClr val="EEF5FA"/>
              </a:solidFill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EA6F86-16C6-9D61-87D4-FEB3751CDCC0}"/>
              </a:ext>
            </a:extLst>
          </p:cNvPr>
          <p:cNvSpPr txBox="1"/>
          <p:nvPr/>
        </p:nvSpPr>
        <p:spPr>
          <a:xfrm>
            <a:off x="6502400" y="4584700"/>
            <a:ext cx="48895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1900">
                <a:solidFill>
                  <a:srgbClr val="EEF5FA"/>
                </a:solidFill>
                <a:latin typeface="Arial" panose="020B0604020202020204" pitchFamily="34" charset="0"/>
              </a:rPr>
              <a:t>Rétrotester les prévisions et la veille</a:t>
            </a:r>
            <a:endParaRPr lang="en-US" sz="1900">
              <a:solidFill>
                <a:srgbClr val="EEF5FA"/>
              </a:solidFill>
              <a:latin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4E673E-63C2-83E6-3A25-0CDD115EFD41}"/>
              </a:ext>
            </a:extLst>
          </p:cNvPr>
          <p:cNvSpPr txBox="1"/>
          <p:nvPr/>
        </p:nvSpPr>
        <p:spPr>
          <a:xfrm>
            <a:off x="6502400" y="5511800"/>
            <a:ext cx="48895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1900">
                <a:solidFill>
                  <a:srgbClr val="EEF5FA"/>
                </a:solidFill>
                <a:latin typeface="Arial" panose="020B0604020202020204" pitchFamily="34" charset="0"/>
              </a:rPr>
              <a:t>Tracer la validation humaine des événements</a:t>
            </a:r>
            <a:endParaRPr lang="en-US" sz="1900">
              <a:solidFill>
                <a:srgbClr val="EEF5FA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1029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674</Words>
  <Application>Microsoft Office PowerPoint</Application>
  <PresentationFormat>Custom</PresentationFormat>
  <Paragraphs>123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youssef aboulouedhnine</dc:creator>
  <cp:lastModifiedBy>youssef aboulouedhnine</cp:lastModifiedBy>
  <cp:revision>1</cp:revision>
  <dcterms:created xsi:type="dcterms:W3CDTF">2026-09-26T08:06:25Z</dcterms:created>
  <dcterms:modified xsi:type="dcterms:W3CDTF">2026-09-26T08:06:25Z</dcterms:modified>
</cp:coreProperties>
</file>